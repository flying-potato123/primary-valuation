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2"/>
    <p:restoredTop sz="94694"/>
  </p:normalViewPr>
  <p:slideViewPr>
    <p:cSldViewPr snapToGrid="0" snapToObjects="1">
      <p:cViewPr varScale="1">
        <p:scale>
          <a:sx n="90" d="100"/>
          <a:sy n="90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73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臻陶科技，一家做泛半导体陶瓷材料及部件的早期公司，天使轮估值分析。核心结论开门见山：投前估值均值一点五三亿元，本轮融资四千五百万元，换取约百分之二十二点八的股权。这是一个关于国产替代与卡脖子技术的故事，接下来我从投资逻辑讲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这是本次估值的核心结论。我们用四种方法交叉验证：VC 方法概率加权给到一点九九亿，计分卡一点一九亿，伯克斯法只有六百四十八万，可比市销率参考三点六亿，按权重加权后投前估值一点五三亿元。这个均值不是任何单一方法的结论，而是把乐观与警惕调和后的理性锚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要用这种估值思路？因为臻陶科技当前处于天使轮，没有审计报表、没有签约订单、收入尚未规模化，用传统现金流折现或可比公司法单独去套都会失真。所以本报告选择以退定投——先想清楚五年后若成功值多少钱，再按成功概率和目标回报折回今天。投资人真正要回答的，是愿不愿意用四千五百万买一张站上百亿卡脖子赛道的入场券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本轮四千五百万元不是用来维持运营，而是用来打通从实验室到中试量产的惊险一跃。公司规划了四段融资路径：天使轮四千五百万、Pre-A 轮八千万、A 轮一点二亿、B 轮五点五亿，每一轮都对应一个明确的产业化里程碑。天使轮是整条价值链上单位资金撬动倍数最高的一段。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司用一个技术平台支撑四条纵向一体化的产品线：多层陶瓷基板、氮化硅基板、静电卡盘和陶瓷加热器。关键在于，多层陶瓷基板本身就是静电卡盘与陶瓷加热器的核心组元，所以攻克了多层陶瓷基板，就等于同时握住两个下游部件市场的钥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司的核心技术是共键合工艺。与传统共烧和日本进口相比，它在良品率、生产周期、尺寸精度上全面胜出——良品率预计超过百分之八十五，而传统路线只有三到六成。这是估值故事中最关键的技术支点，但需要清醒看到，这些指标目前多为实验室实测，尚未经大规模量产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目标应用——氮化硅基板、静电卡盘、陶瓷加热器，全球合计约五十亿美元级，且都保持中个位数以上的增长。对一家天使轮公司而言，市场规模足够大，意味着即便只吃下一小块份额，也足以支撑十亿级营收的退出想象，这正是 VC 方法里退出年十亿营收假设的产业基础。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我们为什么这样分配权重？VC 方法最贴合早期项目以退定投的本质，给最高权重百分之四十；计分卡给百分之三十做定性定价；伯克斯法和可比市销率各给二十和十，作为区间的下沿和上沿。情景 DCF 不纳入加权，只作为内在价值的旁证。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VC 方法是故事的主线。我们把技术能否产业化这个二元问题，拆成一条连续的概率光谱：乐观情景营收十二点五亿、概率百分之二十，基准十亿、概率百分之五十五，悲观六亿、概率百分之二十五。按目标回报八倍折回本轮、扣除后续稀释，得到概率加权投前约一点九九亿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计分卡从当下的素质出发，团队和技术两项都给到百分之一百五，加权得分百分之一百三十二点五，乘以行业基准九千万，得到一点一九亿。伯克斯法只给出六百四十八万，这不是模型出错，而是它的上限机制对深科技会系统性偏低。我们保留这个极度保守的数字，为估值区间钉下一个下沿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可比上市公司的估值倍数做一次近端校验。富创精密九倍、珂玛科技十一倍、华卓精科十二倍、神工股份七倍，行业中位八倍。以近端营收三千万元乘以早期市销率十二倍，得到三点六亿元，构成估值区间的上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为了给估值找一条独立旁证，我们再走一条完全不同的路——现金流折现。基准情景企业价值二点二一亿，隐含投前约一点七六亿，与 VC 方法的一点九九亿落在同一区间。两条独立路径殊途同归，大大增强了均值可信度。而熊市情景企业价值为负，再次提醒这是一个成则丰厚、败则归零的项目。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把四条线索合到一起，加权投前估值均值约一点五三亿，区间零点零六亿到三点六亿。下沿是伯克斯的冷静警告，上沿是可比市销率的乐观想象，中间由 VC 方法和 DCF 共同锚定。我们建议以投前一点五亿附近作为谈判锚点，但更关键的是设计一个可以随时叫停的分期结构。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本轮完成后，创始团队仍握有约百分之七十七点二的绝对控制权，天使投资人持股百分之二十二点八。随着后续三轮融资，天使持股会稀释到 B 轮后的约百分之十三点七。按概率加权口径测算，退出回报倍数约十三点四倍，对应年化内部收益率约百分之六十八。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估值的锚点其实系在退出时市场愿意给多高倍数这个假设上。目标回报倍数每上升一倍，隐含投前下降约十到十五个百分点；退出市销率每上升零点六倍，投前上升约十二个百分点。五大风险中，技术产业化是本源风险，融资接续是过程风险，后者可以通过条款设计和分期出资来部分对冲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回到最初的问题：为什么值这个价？数字给出的是一个区间，而背后的信念是一支能把实验室成果推向产线的团队、一项能反复变现的底层工艺、一条仍在被 AI 与新能源不断抬高的赛道天花板。我们的三条建议：里程碑分期出资、协议条款下行保护、以及以审计三表和专利转让证明为交割前提的尽调清单。今天的投前估值不是终点，只是这段成长故事的起点。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Times New Roman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Times New Roman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Times New Roman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Times New Roman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Times New Roman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Times New Roman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1143000"/>
            <a:ext cx="13144500" cy="8953500"/>
            <a:chOff x="0" y="-1143000"/>
            <a:chExt cx="1314450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364A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091DA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pic>
        <p:nvPicPr>
          <p:cNvPr id="28" name="Picture 27" descr="cover_image.png"/>
          <p:cNvPicPr>
            <a:picLocks noChangeAspect="1"/>
          </p:cNvPicPr>
          <p:nvPr/>
        </p:nvPicPr>
        <p:blipFill>
          <a:blip r:embed="rId3"/>
          <a:srcRect r="40390"/>
          <a:stretch>
            <a:fillRect/>
          </a:stretch>
        </p:blipFill>
        <p:spPr>
          <a:xfrm>
            <a:off x="8739864" y="27432"/>
            <a:ext cx="3452136" cy="6803136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749618" y="561499"/>
            <a:ext cx="2449568" cy="426720"/>
            <a:chOff x="749618" y="561499"/>
            <a:chExt cx="2449568" cy="426720"/>
          </a:xfrm>
        </p:grpSpPr>
        <p:sp>
          <p:nvSpPr>
            <p:cNvPr id="7" name="TextBox 7"/>
            <p:cNvSpPr txBox="1"/>
            <p:nvPr/>
          </p:nvSpPr>
          <p:spPr>
            <a:xfrm>
              <a:off x="749618" y="56149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B3D5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9618" y="7900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88A8"/>
                  </a:solidFill>
                  <a:latin typeface="Times New Roman"/>
                  <a:ea typeface="楷体"/>
                  <a:cs typeface="Times New Roman"/>
                </a:rPr>
                <a:t>CONFIDENTIAL · ANGEL ROUND VALUATION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1040" y="1863090"/>
            <a:ext cx="5652516" cy="2308860"/>
            <a:chOff x="701040" y="1863090"/>
            <a:chExt cx="5652516" cy="2308860"/>
          </a:xfrm>
        </p:grpSpPr>
        <p:sp>
          <p:nvSpPr>
            <p:cNvPr id="10" name="TextBox 10"/>
            <p:cNvSpPr txBox="1"/>
            <p:nvPr/>
          </p:nvSpPr>
          <p:spPr>
            <a:xfrm>
              <a:off x="701040" y="1863090"/>
              <a:ext cx="348234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臻陶科技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9140" y="2777490"/>
              <a:ext cx="56144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泛半导体陶瓷材料及部件 · QINGHEWEI TECHNOLOGY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3276600"/>
              <a:ext cx="685800" cy="381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733425" y="3490912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天使轮一级市场估值分析报告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760" y="3928110"/>
              <a:ext cx="40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A8BC"/>
                  </a:solidFill>
                  <a:latin typeface="Times New Roman"/>
                  <a:ea typeface="楷体"/>
                  <a:cs typeface="Times New Roman"/>
                </a:rPr>
                <a:t>场辅助制备制造 · 共键合原创工艺 · 卡脖子材料国产替代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4629150"/>
            <a:ext cx="7977864" cy="1162050"/>
            <a:chOff x="762000" y="4629150"/>
            <a:chExt cx="10668000" cy="1162050"/>
          </a:xfrm>
        </p:grpSpPr>
        <p:sp>
          <p:nvSpPr>
            <p:cNvPr id="16" name="Rectangle 16"/>
            <p:cNvSpPr/>
            <p:nvPr/>
          </p:nvSpPr>
          <p:spPr>
            <a:xfrm>
              <a:off x="762000" y="4629150"/>
              <a:ext cx="10668000" cy="1143000"/>
            </a:xfrm>
            <a:prstGeom prst="roundRect">
              <a:avLst>
                <a:gd name="adj" fmla="val 6667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762000" y="4629150"/>
              <a:ext cx="19050" cy="11430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129665" y="4934902"/>
              <a:ext cx="14362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8AA8BC"/>
                  </a:solidFill>
                  <a:latin typeface="Times New Roman"/>
                  <a:ea typeface="楷体"/>
                  <a:cs typeface="Times New Roman"/>
                </a:rPr>
                <a:t>投前估值（均值）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4900" y="5181600"/>
              <a:ext cx="196643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1.53</a:t>
              </a:r>
              <a:r>
                <a:rPr lang="zh-CN" sz="16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 亿元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476750" y="47625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9525">
              <a:solidFill>
                <a:srgbClr val="2A4A5E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4939665" y="49349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8AA8BC"/>
                  </a:solidFill>
                  <a:latin typeface="Times New Roman"/>
                  <a:ea typeface="楷体"/>
                  <a:cs typeface="Times New Roman"/>
                </a:rPr>
                <a:t>本轮融资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14900" y="5181600"/>
              <a:ext cx="219746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4,500</a:t>
              </a:r>
              <a:r>
                <a:rPr lang="zh-CN" sz="16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 万元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96250" y="47625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9525">
              <a:solidFill>
                <a:srgbClr val="2A4A5E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8559165" y="49349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8AA8BC"/>
                  </a:solidFill>
                  <a:latin typeface="Times New Roman"/>
                  <a:ea typeface="楷体"/>
                  <a:cs typeface="Times New Roman"/>
                </a:rPr>
                <a:t>本轮股比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34400" y="5181600"/>
              <a:ext cx="144137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22.8</a:t>
              </a:r>
              <a:r>
                <a:rPr lang="zh-CN" sz="16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 %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49618" y="6295548"/>
            <a:ext cx="799024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88A8"/>
                </a:solidFill>
                <a:latin typeface="Times New Roman"/>
                <a:ea typeface="楷体"/>
                <a:cs typeface="Times New Roman"/>
              </a:rPr>
              <a:t>估值基准日：2026年8月 ｜ 单位：人民币万元 ｜ 方法：多方法交叉验证（VC Method 概率加权 · Scorecard · Berkus · 可比估值 · 情景 DCF）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0042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四方法交叉验证：投前估值 1.53 亿元，本轮 4,500 万换 22.8%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101218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均值 1.53 亿是把「若成功」的 VC 法与 DCF、和「若失败」的 Berkus，按方法权重与成功概率调和后的理性锚点——而非任何一个单一方法的结论。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333500"/>
            <a:ext cx="11125200" cy="1143000"/>
            <a:chOff x="533400" y="1333500"/>
            <a:chExt cx="11125200" cy="1143000"/>
          </a:xfrm>
        </p:grpSpPr>
        <p:sp>
          <p:nvSpPr>
            <p:cNvPr id="9" name="Rectangle 9"/>
            <p:cNvSpPr/>
            <p:nvPr/>
          </p:nvSpPr>
          <p:spPr>
            <a:xfrm>
              <a:off x="533400" y="1333500"/>
              <a:ext cx="2638425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533400" y="1333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748665" y="1486852"/>
              <a:ext cx="1231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投前估值（均值）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7710" y="1727835"/>
              <a:ext cx="118301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1.53</a:t>
              </a:r>
              <a:r>
                <a:rPr lang="zh-CN" sz="16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亿元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226945"/>
              <a:ext cx="130805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区间 0.06 – 3.6 亿元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62325" y="1333500"/>
              <a:ext cx="2638425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3362325" y="1333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3577590" y="148685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本轮融资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6635" y="1727835"/>
              <a:ext cx="1388201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4,500</a:t>
              </a:r>
              <a:r>
                <a:rPr lang="zh-CN" sz="16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万元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9495" y="2226945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天使轮一期投资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333500"/>
              <a:ext cx="2638425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6191250" y="1333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406515" y="1486852"/>
              <a:ext cx="1231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投后估值（均值）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5560" y="1727835"/>
              <a:ext cx="118301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1.98</a:t>
              </a:r>
              <a:r>
                <a:rPr lang="zh-CN" sz="16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亿元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08420" y="2226945"/>
              <a:ext cx="12118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= 投前 + 本轮投资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20175" y="1333500"/>
              <a:ext cx="2638425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9020175" y="1333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235440" y="148685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本轮股比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14485" y="1727835"/>
              <a:ext cx="100668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22.8</a:t>
              </a:r>
              <a:r>
                <a:rPr lang="zh-CN" sz="16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7345" y="2226945"/>
              <a:ext cx="11974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投资额 / 投后估值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04825" y="3032760"/>
            <a:ext cx="11140440" cy="3276124"/>
            <a:chOff x="518160" y="2823210"/>
            <a:chExt cx="11140440" cy="2853690"/>
          </a:xfrm>
        </p:grpSpPr>
        <p:sp>
          <p:nvSpPr>
            <p:cNvPr id="30" name="TextBox 30"/>
            <p:cNvSpPr txBox="1"/>
            <p:nvPr/>
          </p:nvSpPr>
          <p:spPr>
            <a:xfrm>
              <a:off x="518160" y="2823210"/>
              <a:ext cx="33085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四方法估值交叉验证（投前，万元）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24200"/>
              <a:ext cx="11125200" cy="419100"/>
            </a:xfrm>
            <a:prstGeom prst="roundRect">
              <a:avLst>
                <a:gd name="adj" fmla="val 9091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49618" y="3285649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估值方法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94736" y="3285649"/>
              <a:ext cx="71814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投前估值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8809" y="3285649"/>
              <a:ext cx="3590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权重</a:t>
              </a:r>
              <a:endParaRPr lang="zh-CN" sz="1050" dirty="0">
                <a:solidFill>
                  <a:srgbClr val="B8CCDB"/>
                </a:solidFill>
                <a:latin typeface="Times New Roman"/>
                <a:ea typeface="楷体"/>
                <a:cs typeface="Times New Roman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04736" y="3285649"/>
              <a:ext cx="71814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加权贡献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9118" y="3285649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方法角色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543300"/>
              <a:ext cx="111252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747712" y="3688556"/>
              <a:ext cx="19797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VC Method（概率加权）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21063" y="3688556"/>
              <a:ext cx="49372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19,864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1172" y="3688556"/>
              <a:ext cx="3286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20831" y="3688556"/>
              <a:ext cx="4039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7,946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9118" y="3704749"/>
              <a:ext cx="161582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核心：退出价值反推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962400"/>
              <a:ext cx="11125200" cy="4191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747712" y="4107656"/>
              <a:ext cx="161582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Scorecard（计分卡）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27732" y="4107656"/>
              <a:ext cx="48705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11,925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91172" y="4107656"/>
              <a:ext cx="3286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30%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0831" y="4107656"/>
              <a:ext cx="4039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3,578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79118" y="4123849"/>
              <a:ext cx="10772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定性要素定价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381500"/>
              <a:ext cx="111252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TextBox 50"/>
            <p:cNvSpPr txBox="1"/>
            <p:nvPr/>
          </p:nvSpPr>
          <p:spPr>
            <a:xfrm>
              <a:off x="747712" y="4526756"/>
              <a:ext cx="140743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Berkus（伯克斯）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45484" y="4526756"/>
              <a:ext cx="26930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648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91172" y="4526756"/>
              <a:ext cx="3286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5484" y="4526756"/>
              <a:ext cx="26930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130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79118" y="4542949"/>
              <a:ext cx="10772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保守下沿参考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800600"/>
              <a:ext cx="11125200" cy="4191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747712" y="4945856"/>
              <a:ext cx="136575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可比 PS 倍数参考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21063" y="4945856"/>
              <a:ext cx="49372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36,000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91172" y="4945856"/>
              <a:ext cx="3286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10%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20831" y="4945856"/>
              <a:ext cx="4039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3,600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79118" y="4962049"/>
              <a:ext cx="10772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近端营收校验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5219700"/>
              <a:ext cx="11125200" cy="4572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2" name="TextBox 62"/>
            <p:cNvSpPr txBox="1"/>
            <p:nvPr/>
          </p:nvSpPr>
          <p:spPr>
            <a:xfrm>
              <a:off x="746760" y="5375910"/>
              <a:ext cx="124072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加权投前估值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53388" y="5359718"/>
              <a:ext cx="5642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15,253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41442" y="5375910"/>
              <a:ext cx="4792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100%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63388" y="5359718"/>
              <a:ext cx="5642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15,253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5400199"/>
              <a:ext cx="86081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≈ 1.53 亿元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68" name="Line 68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69" name="TextBox 69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19112" y="373856"/>
            <a:ext cx="2121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5587"/>
                </a:solidFill>
                <a:latin typeface="Times New Roman"/>
                <a:ea typeface="楷体"/>
                <a:cs typeface="Times New Roman"/>
              </a:rPr>
              <a:t>投资逻辑 · INVESTMENT THESIS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99110" y="1137285"/>
            <a:ext cx="8517936" cy="605790"/>
            <a:chOff x="499110" y="1137285"/>
            <a:chExt cx="8517936" cy="605790"/>
          </a:xfrm>
        </p:grpSpPr>
        <p:sp>
          <p:nvSpPr>
            <p:cNvPr id="6" name="TextBox 6"/>
            <p:cNvSpPr txBox="1"/>
            <p:nvPr/>
          </p:nvSpPr>
          <p:spPr>
            <a:xfrm>
              <a:off x="499110" y="1137285"/>
              <a:ext cx="85179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用 4,500 万，买一张站上百亿卡脖子赛道的入场券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1695450"/>
              <a:ext cx="609600" cy="47625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2" name="Group 12"/>
          <p:cNvGrpSpPr/>
          <p:nvPr/>
        </p:nvGrpSpPr>
        <p:grpSpPr>
          <a:xfrm>
            <a:off x="512445" y="2203132"/>
            <a:ext cx="10579819" cy="1097280"/>
            <a:chOff x="512445" y="2203132"/>
            <a:chExt cx="10579819" cy="1097280"/>
          </a:xfrm>
        </p:grpSpPr>
        <p:sp>
          <p:nvSpPr>
            <p:cNvPr id="9" name="TextBox 9"/>
            <p:cNvSpPr txBox="1"/>
            <p:nvPr/>
          </p:nvSpPr>
          <p:spPr>
            <a:xfrm>
              <a:off x="512445" y="2203132"/>
              <a:ext cx="88430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臻陶科技的估值，本质上是在为一项</a:t>
              </a:r>
              <a:r>
                <a:rPr lang="zh-CN" sz="16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「尚未被市场验证、但已被物理验证」</a:t>
              </a:r>
              <a:r>
                <a:rPr lang="zh-CN" sz="16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的技术定价。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2445" y="2584132"/>
              <a:ext cx="10579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公司当前处于天使轮——没有审计报表、收入尚未规模化，用传统现金流折现或可比公司法单独套用，都会失真。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2445" y="2965132"/>
              <a:ext cx="99431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因此本报告选择</a:t>
              </a:r>
              <a:r>
                <a:rPr lang="zh-CN" sz="16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「以退定投」</a:t>
              </a:r>
              <a:r>
                <a:rPr lang="zh-CN" sz="16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：先想清楚五年后若成功值多少钱，再按成功概率与目标回报折回今天。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2030" y="3543835"/>
            <a:ext cx="11215489" cy="1553587"/>
            <a:chOff x="514350" y="3733800"/>
            <a:chExt cx="11215489" cy="1553587"/>
          </a:xfrm>
        </p:grpSpPr>
        <p:sp>
          <p:nvSpPr>
            <p:cNvPr id="13" name="Line 13"/>
            <p:cNvSpPr/>
            <p:nvPr/>
          </p:nvSpPr>
          <p:spPr>
            <a:xfrm>
              <a:off x="533400" y="3733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19112" y="4031456"/>
              <a:ext cx="17953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4350" y="4314825"/>
              <a:ext cx="23243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被日本人垄断了二十年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9112" y="4641056"/>
              <a:ext cx="359072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高端多层陶瓷基板（MCS）长期被日本主导，</a:t>
              </a:r>
              <a:endParaRPr lang="en-US" altLang="zh-CN" sz="1400" dirty="0">
                <a:solidFill>
                  <a:srgbClr val="64748B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中国进口依存度超 90%，出口管制下随时可能断供。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29112" y="4031456"/>
              <a:ext cx="17953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4350" y="4314825"/>
              <a:ext cx="23243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原创工艺已被物理验证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29112" y="4641056"/>
              <a:ext cx="3770263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共键合工艺把陶瓷良品率从三成拉到八成以上，</a:t>
              </a:r>
              <a:endParaRPr lang="en-US" altLang="zh-CN" sz="1400" dirty="0">
                <a:solidFill>
                  <a:srgbClr val="64748B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键合强度、热导率等关键指标已获实验实测。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9112" y="4031456"/>
              <a:ext cx="17953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4350" y="4314825"/>
              <a:ext cx="18594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商业兑现尚未发生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9112" y="4641056"/>
              <a:ext cx="3590727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量产良率与客户认证尚未验证，因此这是一次</a:t>
              </a:r>
              <a:endParaRPr lang="en-US" altLang="zh-CN" sz="1400" dirty="0">
                <a:solidFill>
                  <a:srgbClr val="64748B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「面向未来」而非「基于当下财务」的定价。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5486400"/>
            <a:ext cx="11125200" cy="609600"/>
            <a:chOff x="533400" y="5486400"/>
            <a:chExt cx="11125200" cy="609600"/>
          </a:xfrm>
        </p:grpSpPr>
        <p:sp>
          <p:nvSpPr>
            <p:cNvPr id="24" name="Rectangle 24"/>
            <p:cNvSpPr/>
            <p:nvPr/>
          </p:nvSpPr>
          <p:spPr>
            <a:xfrm>
              <a:off x="533400" y="5486400"/>
              <a:ext cx="11125200" cy="609600"/>
            </a:xfrm>
            <a:prstGeom prst="roundRect">
              <a:avLst>
                <a:gd name="adj" fmla="val 6250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533400" y="5486400"/>
              <a:ext cx="47625" cy="6096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22008" y="5634514"/>
              <a:ext cx="40844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投资人真正要回答的问题，不是「值不值 4,500 万」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008" y="5863114"/>
              <a:ext cx="55207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而是「愿不愿意用 4,500 万，站上这条被三股东风同时托举的赛道」。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29" name="Line 29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1029593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本轮 4,500 万不是维持运营，而是打通「实验室 → 中试量产」的惊险一跃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7756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四段融资路径的每一棒都对应一个明确的产业化里程碑；天使轮是整条价值链上单位资金撬动倍数最高、风险收益也最鲜明的一段。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8160" y="1356360"/>
            <a:ext cx="11140440" cy="1729740"/>
            <a:chOff x="518160" y="1356360"/>
            <a:chExt cx="11140440" cy="1729740"/>
          </a:xfrm>
        </p:grpSpPr>
        <p:sp>
          <p:nvSpPr>
            <p:cNvPr id="9" name="TextBox 9"/>
            <p:cNvSpPr txBox="1"/>
            <p:nvPr/>
          </p:nvSpPr>
          <p:spPr>
            <a:xfrm>
              <a:off x="518160" y="1356360"/>
              <a:ext cx="18065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四段式融资路径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1657350"/>
              <a:ext cx="2571750" cy="1428750"/>
            </a:xfrm>
            <a:prstGeom prst="roundRect">
              <a:avLst>
                <a:gd name="adj" fmla="val 5333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816418"/>
              <a:ext cx="120225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天使轮 · 2026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018348"/>
              <a:ext cx="10788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4,500 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371249"/>
              <a:ext cx="147155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核心设备 / 运营 / 认证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646045"/>
              <a:ext cx="15533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D4EE"/>
                  </a:solidFill>
                  <a:latin typeface="Times New Roman"/>
                  <a:ea typeface="楷体"/>
                  <a:cs typeface="Times New Roman"/>
                </a:rPr>
                <a:t>Si₃N₄小批量 · MCS认证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3200400" y="19240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38100"/>
                  </a:moveTo>
                  <a:lnTo>
                    <a:pt x="190500" y="38100"/>
                  </a:lnTo>
                  <a:lnTo>
                    <a:pt x="190500" y="76200"/>
                  </a:lnTo>
                  <a:lnTo>
                    <a:pt x="381000" y="38100"/>
                  </a:lnTo>
                  <a:lnTo>
                    <a:pt x="190500" y="0"/>
                  </a:lnTo>
                  <a:lnTo>
                    <a:pt x="190500" y="3810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3581400" y="1657350"/>
              <a:ext cx="2571750" cy="1428750"/>
            </a:xfrm>
            <a:prstGeom prst="roundRect">
              <a:avLst>
                <a:gd name="adj" fmla="val 5333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3792855" y="1816418"/>
              <a:ext cx="134908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Pre-A 轮 · 2028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85235" y="2018348"/>
              <a:ext cx="10788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8,000 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97618" y="2371249"/>
              <a:ext cx="169918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Si₃N₄量产线 / MCS小批量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8570" y="2646045"/>
              <a:ext cx="15372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Si₃N₄放量 · 加热器中试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248400" y="19240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38100"/>
                  </a:moveTo>
                  <a:lnTo>
                    <a:pt x="190500" y="38100"/>
                  </a:lnTo>
                  <a:lnTo>
                    <a:pt x="190500" y="76200"/>
                  </a:lnTo>
                  <a:lnTo>
                    <a:pt x="381000" y="38100"/>
                  </a:lnTo>
                  <a:lnTo>
                    <a:pt x="190500" y="0"/>
                  </a:lnTo>
                  <a:lnTo>
                    <a:pt x="190500" y="381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6629400" y="1657350"/>
              <a:ext cx="2571750" cy="1428750"/>
            </a:xfrm>
            <a:prstGeom prst="roundRect">
              <a:avLst>
                <a:gd name="adj" fmla="val 5333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840855" y="1816418"/>
              <a:ext cx="97610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A 轮 · 2029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33235" y="2018348"/>
              <a:ext cx="7710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1.2 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5618" y="2371249"/>
              <a:ext cx="150682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Si₃N₄/MCS 量产线扩建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6570" y="2646045"/>
              <a:ext cx="15292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MCS批量 · 加热器量产</a:t>
              </a:r>
            </a:p>
          </p:txBody>
        </p:sp>
        <p:sp>
          <p:nvSpPr>
            <p:cNvPr id="27" name="Polygon 27"/>
            <p:cNvSpPr/>
            <p:nvPr/>
          </p:nvSpPr>
          <p:spPr>
            <a:xfrm>
              <a:off x="9296400" y="19240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38100"/>
                  </a:moveTo>
                  <a:lnTo>
                    <a:pt x="190500" y="38100"/>
                  </a:lnTo>
                  <a:lnTo>
                    <a:pt x="190500" y="76200"/>
                  </a:lnTo>
                  <a:lnTo>
                    <a:pt x="381000" y="38100"/>
                  </a:lnTo>
                  <a:lnTo>
                    <a:pt x="190500" y="0"/>
                  </a:lnTo>
                  <a:lnTo>
                    <a:pt x="190500" y="381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9677400" y="1657350"/>
              <a:ext cx="1981200" cy="1428750"/>
            </a:xfrm>
            <a:prstGeom prst="roundRect">
              <a:avLst>
                <a:gd name="adj" fmla="val 5333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88855" y="1816418"/>
              <a:ext cx="97622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B 轮 · 2030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81235" y="2018348"/>
              <a:ext cx="7710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5.5 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3618" y="2371249"/>
              <a:ext cx="10002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扩至 10 条产线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94570" y="2646045"/>
              <a:ext cx="13369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平台放量 · 启动 IPO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19957" y="3073729"/>
            <a:ext cx="5007150" cy="3212699"/>
            <a:chOff x="7055942" y="3034606"/>
            <a:chExt cx="5007150" cy="3212699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5942" y="3034606"/>
              <a:ext cx="4444863" cy="3033221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072943" y="6078028"/>
              <a:ext cx="49901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本轮 4,500 万元资金用途：核心设备 2,500 万（56%）/ 运营 1,500 万 / 认证 500 万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3607433"/>
            <a:ext cx="5729382" cy="2604117"/>
            <a:chOff x="518160" y="3364116"/>
            <a:chExt cx="5729382" cy="2604117"/>
          </a:xfrm>
        </p:grpSpPr>
        <p:sp>
          <p:nvSpPr>
            <p:cNvPr id="34" name="TextBox 34"/>
            <p:cNvSpPr txBox="1"/>
            <p:nvPr/>
          </p:nvSpPr>
          <p:spPr>
            <a:xfrm>
              <a:off x="532542" y="3364116"/>
              <a:ext cx="248144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一个「卡脖子」故事的起点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8160" y="3724012"/>
              <a:ext cx="5729382" cy="2244221"/>
            </a:xfrm>
            <a:prstGeom prst="roundRect">
              <a:avLst>
                <a:gd name="adj" fmla="val 4878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519111" y="3860006"/>
              <a:ext cx="5728431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多层陶瓷基板（MCS）是静电卡盘、陶瓷加热器的核心组元，高端产品几乎被日本陶瓷巨头等少数厂商垄断，中国进口依存度超过 90%。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542" y="4445085"/>
              <a:ext cx="559117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日本经济产业省已把部分高端陶瓷基板列入出口管制清单——国内泛半导体设备厂商随时可能面临断供，这正是公司切入的最迫切的卡脖子点。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8160" y="5241536"/>
              <a:ext cx="5715001" cy="4373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当前天使轮：氮化硅已做出 2 英寸、6 英寸样品并送样验证，MCS 进入客户认证准备阶段，尚无规模化收入与签约订单。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48" name="Line 48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9" name="TextBox 49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88782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一个技术平台，四条纵向一体化产品线，共享同一套共键合工艺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78266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MCS 本身就是静电卡盘与陶瓷加热器的核心组元——攻克 MCS，就等于同时握住两个下游部件市场的钥匙。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428750"/>
            <a:ext cx="2638425" cy="3429000"/>
            <a:chOff x="533400" y="1428750"/>
            <a:chExt cx="2638425" cy="342900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2638425" cy="3429000"/>
            </a:xfrm>
            <a:prstGeom prst="roundRect">
              <a:avLst>
                <a:gd name="adj" fmla="val 2888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533400" y="1428750"/>
              <a:ext cx="2638425" cy="5715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785812" y="1714500"/>
              <a:ext cx="333375" cy="381000"/>
              <a:chOff x="785812" y="1714500"/>
              <a:chExt cx="333375" cy="381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85812" y="1714500"/>
                <a:ext cx="333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90500">
                    <a:moveTo>
                      <a:pt x="0" y="119062"/>
                    </a:moveTo>
                    <a:lnTo>
                      <a:pt x="0" y="71438"/>
                    </a:lnTo>
                    <a:lnTo>
                      <a:pt x="166688" y="0"/>
                    </a:lnTo>
                    <a:lnTo>
                      <a:pt x="333375" y="71438"/>
                    </a:lnTo>
                    <a:lnTo>
                      <a:pt x="333375" y="119062"/>
                    </a:lnTo>
                    <a:lnTo>
                      <a:pt x="166688" y="190500"/>
                    </a:lnTo>
                    <a:lnTo>
                      <a:pt x="0" y="119062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85812" y="1976438"/>
                <a:ext cx="3333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19062">
                    <a:moveTo>
                      <a:pt x="166688" y="119062"/>
                    </a:moveTo>
                    <a:lnTo>
                      <a:pt x="0" y="47625"/>
                    </a:lnTo>
                    <a:lnTo>
                      <a:pt x="0" y="0"/>
                    </a:lnTo>
                    <a:lnTo>
                      <a:pt x="166688" y="71438"/>
                    </a:lnTo>
                    <a:lnTo>
                      <a:pt x="333375" y="0"/>
                    </a:lnTo>
                    <a:lnTo>
                      <a:pt x="333375" y="47625"/>
                    </a:lnTo>
                    <a:lnTo>
                      <a:pt x="166688" y="119062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785812" y="1881188"/>
                <a:ext cx="3333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19062">
                    <a:moveTo>
                      <a:pt x="0" y="47625"/>
                    </a:moveTo>
                    <a:lnTo>
                      <a:pt x="166688" y="119062"/>
                    </a:lnTo>
                    <a:lnTo>
                      <a:pt x="333375" y="47625"/>
                    </a:lnTo>
                    <a:lnTo>
                      <a:pt x="333375" y="0"/>
                    </a:lnTo>
                    <a:lnTo>
                      <a:pt x="166688" y="71438"/>
                    </a:lnTo>
                    <a:lnTo>
                      <a:pt x="0" y="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742950" y="2238375"/>
              <a:ext cx="13946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多层陶瓷基板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12" y="2526506"/>
              <a:ext cx="37991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MCS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819400"/>
              <a:ext cx="2181225" cy="9525"/>
            </a:xfrm>
            <a:custGeom>
              <a:avLst/>
              <a:gdLst/>
              <a:ahLst/>
              <a:cxnLst/>
              <a:rect l="l" t="t" r="r" b="b"/>
              <a:pathLst>
                <a:path w="2181225" h="95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748665" y="29918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核心组元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3220402"/>
              <a:ext cx="152009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AlN 基板 + W/Mo 电极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35252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下游应用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3753802"/>
              <a:ext cx="151323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ESC、加热器核心组元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4066699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市场地位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4287202"/>
              <a:ext cx="23083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高端近乎日本垄断，卡脖子最严重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62325" y="1428750"/>
            <a:ext cx="2679081" cy="3429000"/>
            <a:chOff x="3362325" y="1428750"/>
            <a:chExt cx="2679081" cy="3429000"/>
          </a:xfrm>
        </p:grpSpPr>
        <p:sp>
          <p:nvSpPr>
            <p:cNvPr id="25" name="Rectangle 25"/>
            <p:cNvSpPr/>
            <p:nvPr/>
          </p:nvSpPr>
          <p:spPr>
            <a:xfrm>
              <a:off x="3362325" y="1428750"/>
              <a:ext cx="2638425" cy="3429000"/>
            </a:xfrm>
            <a:prstGeom prst="roundRect">
              <a:avLst>
                <a:gd name="adj" fmla="val 2888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3362325" y="1428750"/>
              <a:ext cx="2638425" cy="5715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9" name="Group 29"/>
            <p:cNvGrpSpPr/>
            <p:nvPr/>
          </p:nvGrpSpPr>
          <p:grpSpPr>
            <a:xfrm>
              <a:off x="3590925" y="1714500"/>
              <a:ext cx="381000" cy="381000"/>
              <a:chOff x="3590925" y="1714500"/>
              <a:chExt cx="381000" cy="381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733800" y="1857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0"/>
                    </a:ln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3590925" y="1714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71438" y="47625"/>
                    </a:moveTo>
                    <a:lnTo>
                      <a:pt x="71438" y="0"/>
                    </a:lnTo>
                    <a:lnTo>
                      <a:pt x="119062" y="0"/>
                    </a:lnTo>
                    <a:lnTo>
                      <a:pt x="119062" y="47625"/>
                    </a:lnTo>
                    <a:lnTo>
                      <a:pt x="166688" y="47625"/>
                    </a:lnTo>
                    <a:lnTo>
                      <a:pt x="166688" y="0"/>
                    </a:lnTo>
                    <a:lnTo>
                      <a:pt x="214312" y="0"/>
                    </a:lnTo>
                    <a:lnTo>
                      <a:pt x="214312" y="47625"/>
                    </a:lnTo>
                    <a:lnTo>
                      <a:pt x="261938" y="47625"/>
                    </a:lnTo>
                    <a:lnTo>
                      <a:pt x="261938" y="0"/>
                    </a:lnTo>
                    <a:lnTo>
                      <a:pt x="309562" y="0"/>
                    </a:lnTo>
                    <a:lnTo>
                      <a:pt x="309562" y="47625"/>
                    </a:lnTo>
                    <a:lnTo>
                      <a:pt x="333375" y="47625"/>
                    </a:lnTo>
                    <a:lnTo>
                      <a:pt x="333375" y="71438"/>
                    </a:lnTo>
                    <a:lnTo>
                      <a:pt x="381000" y="71438"/>
                    </a:lnTo>
                    <a:lnTo>
                      <a:pt x="381000" y="119062"/>
                    </a:lnTo>
                    <a:lnTo>
                      <a:pt x="333375" y="119062"/>
                    </a:lnTo>
                    <a:lnTo>
                      <a:pt x="333375" y="166688"/>
                    </a:lnTo>
                    <a:lnTo>
                      <a:pt x="381000" y="166688"/>
                    </a:lnTo>
                    <a:lnTo>
                      <a:pt x="381000" y="214312"/>
                    </a:lnTo>
                    <a:lnTo>
                      <a:pt x="333375" y="214312"/>
                    </a:lnTo>
                    <a:lnTo>
                      <a:pt x="333375" y="261938"/>
                    </a:lnTo>
                    <a:lnTo>
                      <a:pt x="381000" y="261938"/>
                    </a:lnTo>
                    <a:lnTo>
                      <a:pt x="381000" y="309562"/>
                    </a:lnTo>
                    <a:lnTo>
                      <a:pt x="333375" y="309562"/>
                    </a:lnTo>
                    <a:lnTo>
                      <a:pt x="333375" y="333375"/>
                    </a:lnTo>
                    <a:lnTo>
                      <a:pt x="309562" y="333375"/>
                    </a:lnTo>
                    <a:lnTo>
                      <a:pt x="309562" y="381000"/>
                    </a:lnTo>
                    <a:lnTo>
                      <a:pt x="261938" y="381000"/>
                    </a:lnTo>
                    <a:lnTo>
                      <a:pt x="261938" y="333375"/>
                    </a:lnTo>
                    <a:lnTo>
                      <a:pt x="214312" y="333375"/>
                    </a:lnTo>
                    <a:lnTo>
                      <a:pt x="214312" y="381000"/>
                    </a:lnTo>
                    <a:lnTo>
                      <a:pt x="166688" y="381000"/>
                    </a:lnTo>
                    <a:lnTo>
                      <a:pt x="166688" y="333375"/>
                    </a:lnTo>
                    <a:lnTo>
                      <a:pt x="119062" y="333375"/>
                    </a:lnTo>
                    <a:lnTo>
                      <a:pt x="119062" y="381000"/>
                    </a:lnTo>
                    <a:lnTo>
                      <a:pt x="71438" y="381000"/>
                    </a:lnTo>
                    <a:lnTo>
                      <a:pt x="71438" y="333375"/>
                    </a:lnTo>
                    <a:lnTo>
                      <a:pt x="47625" y="333375"/>
                    </a:lnTo>
                    <a:lnTo>
                      <a:pt x="47625" y="309562"/>
                    </a:lnTo>
                    <a:lnTo>
                      <a:pt x="0" y="309562"/>
                    </a:lnTo>
                    <a:lnTo>
                      <a:pt x="0" y="261938"/>
                    </a:lnTo>
                    <a:lnTo>
                      <a:pt x="47625" y="261938"/>
                    </a:lnTo>
                    <a:lnTo>
                      <a:pt x="47625" y="214312"/>
                    </a:lnTo>
                    <a:lnTo>
                      <a:pt x="0" y="214312"/>
                    </a:lnTo>
                    <a:lnTo>
                      <a:pt x="0" y="166688"/>
                    </a:lnTo>
                    <a:lnTo>
                      <a:pt x="47625" y="166688"/>
                    </a:lnTo>
                    <a:lnTo>
                      <a:pt x="47625" y="119062"/>
                    </a:lnTo>
                    <a:lnTo>
                      <a:pt x="0" y="119062"/>
                    </a:lnTo>
                    <a:lnTo>
                      <a:pt x="0" y="71438"/>
                    </a:lnTo>
                    <a:lnTo>
                      <a:pt x="47625" y="71438"/>
                    </a:lnTo>
                    <a:lnTo>
                      <a:pt x="47625" y="47625"/>
                    </a:lnTo>
                    <a:lnTo>
                      <a:pt x="71438" y="47625"/>
                    </a:lnTo>
                    <a:close/>
                    <a:moveTo>
                      <a:pt x="95250" y="95250"/>
                    </a:moveTo>
                    <a:lnTo>
                      <a:pt x="95250" y="285750"/>
                    </a:lnTo>
                    <a:lnTo>
                      <a:pt x="285750" y="285750"/>
                    </a:lnTo>
                    <a:lnTo>
                      <a:pt x="285750" y="9525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571875" y="2238375"/>
              <a:ext cx="14843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Si₃N₄ 陶瓷基板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76638" y="2526506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氮化硅基板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590925" y="2819400"/>
              <a:ext cx="2181225" cy="9525"/>
            </a:xfrm>
            <a:custGeom>
              <a:avLst/>
              <a:gdLst/>
              <a:ahLst/>
              <a:cxnLst/>
              <a:rect l="l" t="t" r="r" b="b"/>
              <a:pathLst>
                <a:path w="2181225" h="95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3577590" y="29918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核心组元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7590" y="3220402"/>
              <a:ext cx="1231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高导热氮化硅基板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77590" y="35252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下游应用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77590" y="3753802"/>
              <a:ext cx="22190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IGBT/EV 逆变器、CPO、AI 散热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8542" y="4066699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市场地位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7590" y="4287202"/>
              <a:ext cx="24638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第三代功率器件首选，CAGR &gt; 16%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191250" y="1428750"/>
            <a:ext cx="2638425" cy="3429000"/>
            <a:chOff x="6191250" y="1428750"/>
            <a:chExt cx="2638425" cy="3429000"/>
          </a:xfrm>
        </p:grpSpPr>
        <p:sp>
          <p:nvSpPr>
            <p:cNvPr id="40" name="Rectangle 40"/>
            <p:cNvSpPr/>
            <p:nvPr/>
          </p:nvSpPr>
          <p:spPr>
            <a:xfrm>
              <a:off x="6191250" y="1428750"/>
              <a:ext cx="2638425" cy="3429000"/>
            </a:xfrm>
            <a:prstGeom prst="roundRect">
              <a:avLst>
                <a:gd name="adj" fmla="val 2888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1" name="Rectangle 41"/>
            <p:cNvSpPr/>
            <p:nvPr/>
          </p:nvSpPr>
          <p:spPr>
            <a:xfrm>
              <a:off x="6191250" y="1428750"/>
              <a:ext cx="2638425" cy="5715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Freeform 42"/>
            <p:cNvSpPr/>
            <p:nvPr/>
          </p:nvSpPr>
          <p:spPr>
            <a:xfrm>
              <a:off x="6467475" y="171450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66688" y="166688"/>
                  </a:moveTo>
                  <a:lnTo>
                    <a:pt x="190500" y="0"/>
                  </a:lnTo>
                  <a:lnTo>
                    <a:pt x="142875" y="0"/>
                  </a:lnTo>
                  <a:lnTo>
                    <a:pt x="0" y="166688"/>
                  </a:lnTo>
                  <a:lnTo>
                    <a:pt x="0" y="214312"/>
                  </a:lnTo>
                  <a:lnTo>
                    <a:pt x="119062" y="214312"/>
                  </a:lnTo>
                  <a:lnTo>
                    <a:pt x="95250" y="381000"/>
                  </a:lnTo>
                  <a:lnTo>
                    <a:pt x="142875" y="381000"/>
                  </a:lnTo>
                  <a:lnTo>
                    <a:pt x="285750" y="214312"/>
                  </a:lnTo>
                  <a:lnTo>
                    <a:pt x="285750" y="166688"/>
                  </a:lnTo>
                  <a:lnTo>
                    <a:pt x="166688" y="166688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400800" y="2238375"/>
              <a:ext cx="9297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静电卡盘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05562" y="2526506"/>
              <a:ext cx="3286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ESC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419850" y="2819400"/>
              <a:ext cx="2181225" cy="9525"/>
            </a:xfrm>
            <a:custGeom>
              <a:avLst/>
              <a:gdLst/>
              <a:ahLst/>
              <a:cxnLst/>
              <a:rect l="l" t="t" r="r" b="b"/>
              <a:pathLst>
                <a:path w="2181225" h="95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406515" y="29918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核心组元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06515" y="3220402"/>
              <a:ext cx="8415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cBMCS 结构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06515" y="35252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下游应用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06515" y="3753802"/>
              <a:ext cx="142827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光刻/刻蚀机核心部件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07468" y="4066699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市场地位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06515" y="4287202"/>
              <a:ext cx="216565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国产空白大，良品率预计 &gt; 85%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020175" y="1428750"/>
            <a:ext cx="2638425" cy="3429000"/>
            <a:chOff x="9020175" y="1428750"/>
            <a:chExt cx="2638425" cy="3429000"/>
          </a:xfrm>
        </p:grpSpPr>
        <p:sp>
          <p:nvSpPr>
            <p:cNvPr id="53" name="Rectangle 53"/>
            <p:cNvSpPr/>
            <p:nvPr/>
          </p:nvSpPr>
          <p:spPr>
            <a:xfrm>
              <a:off x="9020175" y="1428750"/>
              <a:ext cx="2638425" cy="3429000"/>
            </a:xfrm>
            <a:prstGeom prst="roundRect">
              <a:avLst>
                <a:gd name="adj" fmla="val 2888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54" name="Rectangle 54"/>
            <p:cNvSpPr/>
            <p:nvPr/>
          </p:nvSpPr>
          <p:spPr>
            <a:xfrm>
              <a:off x="9020175" y="1428750"/>
              <a:ext cx="2638425" cy="57150"/>
            </a:xfrm>
            <a:prstGeom prst="roundRect">
              <a:avLst>
                <a:gd name="adj" fmla="val 50000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Freeform 55"/>
            <p:cNvSpPr/>
            <p:nvPr/>
          </p:nvSpPr>
          <p:spPr>
            <a:xfrm>
              <a:off x="9272588" y="1762125"/>
              <a:ext cx="333375" cy="309562"/>
            </a:xfrm>
            <a:custGeom>
              <a:avLst/>
              <a:gdLst/>
              <a:ahLst/>
              <a:cxnLst/>
              <a:rect l="l" t="t" r="r" b="b"/>
              <a:pathLst>
                <a:path w="333375" h="309562">
                  <a:moveTo>
                    <a:pt x="333375" y="0"/>
                  </a:moveTo>
                  <a:lnTo>
                    <a:pt x="333375" y="309562"/>
                  </a:lnTo>
                  <a:lnTo>
                    <a:pt x="285750" y="309562"/>
                  </a:lnTo>
                  <a:lnTo>
                    <a:pt x="285750" y="190500"/>
                  </a:lnTo>
                  <a:lnTo>
                    <a:pt x="238125" y="190500"/>
                  </a:lnTo>
                  <a:lnTo>
                    <a:pt x="238125" y="309562"/>
                  </a:lnTo>
                  <a:lnTo>
                    <a:pt x="0" y="309562"/>
                  </a:lnTo>
                  <a:lnTo>
                    <a:pt x="0" y="71438"/>
                  </a:lnTo>
                  <a:lnTo>
                    <a:pt x="142875" y="0"/>
                  </a:lnTo>
                  <a:lnTo>
                    <a:pt x="166688" y="0"/>
                  </a:lnTo>
                  <a:lnTo>
                    <a:pt x="166688" y="71438"/>
                  </a:lnTo>
                  <a:lnTo>
                    <a:pt x="309562" y="0"/>
                  </a:lnTo>
                  <a:lnTo>
                    <a:pt x="333375" y="0"/>
                  </a:lnTo>
                  <a:close/>
                  <a:moveTo>
                    <a:pt x="190500" y="142875"/>
                  </a:moveTo>
                  <a:lnTo>
                    <a:pt x="142875" y="142875"/>
                  </a:lnTo>
                  <a:lnTo>
                    <a:pt x="142875" y="238125"/>
                  </a:lnTo>
                  <a:lnTo>
                    <a:pt x="190500" y="238125"/>
                  </a:lnTo>
                  <a:lnTo>
                    <a:pt x="190500" y="142875"/>
                  </a:lnTo>
                  <a:close/>
                  <a:moveTo>
                    <a:pt x="95250" y="142875"/>
                  </a:moveTo>
                  <a:lnTo>
                    <a:pt x="47625" y="142875"/>
                  </a:lnTo>
                  <a:lnTo>
                    <a:pt x="47625" y="238125"/>
                  </a:lnTo>
                  <a:lnTo>
                    <a:pt x="95250" y="238125"/>
                  </a:lnTo>
                  <a:lnTo>
                    <a:pt x="95250" y="142875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9229725" y="2238375"/>
              <a:ext cx="11621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陶瓷加热器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34488" y="2526506"/>
              <a:ext cx="47929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Heater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248775" y="2819400"/>
              <a:ext cx="2181225" cy="9525"/>
            </a:xfrm>
            <a:custGeom>
              <a:avLst/>
              <a:gdLst/>
              <a:ahLst/>
              <a:cxnLst/>
              <a:rect l="l" t="t" r="r" b="b"/>
              <a:pathLst>
                <a:path w="2181225" h="95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9235440" y="29918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核心组元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35440" y="3220402"/>
              <a:ext cx="12995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多层 AlN + RF 网格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35440" y="35252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下游应用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35440" y="3753802"/>
              <a:ext cx="13369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CVD/ALD 工艺腔室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36392" y="4066699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市场地位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35440" y="4287202"/>
              <a:ext cx="20667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日/美/韩主导，TOP5 占 &gt; 68%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3877" y="5271952"/>
            <a:ext cx="11125200" cy="600210"/>
            <a:chOff x="533400" y="5086350"/>
            <a:chExt cx="11125200" cy="600210"/>
          </a:xfrm>
        </p:grpSpPr>
        <p:sp>
          <p:nvSpPr>
            <p:cNvPr id="66" name="Rectangle 66"/>
            <p:cNvSpPr/>
            <p:nvPr/>
          </p:nvSpPr>
          <p:spPr>
            <a:xfrm>
              <a:off x="533400" y="5086350"/>
              <a:ext cx="11125200" cy="600210"/>
            </a:xfrm>
            <a:prstGeom prst="roundRect">
              <a:avLst>
                <a:gd name="adj" fmla="val 6897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7" name="TextBox 67"/>
            <p:cNvSpPr txBox="1"/>
            <p:nvPr/>
          </p:nvSpPr>
          <p:spPr>
            <a:xfrm>
              <a:off x="748665" y="5220652"/>
              <a:ext cx="897681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四条产品线并非彼此独立：共享同一套共键合工艺平台，且存在内在组元关系——从材料到部件形成纵向一体化，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8665" y="5411152"/>
              <a:ext cx="758541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每一条线都对应进口替代的刚性需求，这正是 Scorecard「市场机会」维度获得高分的底层原因。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70" name="Line 70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71" name="TextBox 71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1932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共键合工艺在良品率、周期、精度上全面胜出，但尚未经量产验证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76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良品率从三成到八成的跨越，直接决定成本竞争力与量产可行性——这是估值故事中最关键的技术支点。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1428750"/>
            <a:ext cx="11125200" cy="3048000"/>
            <a:chOff x="533400" y="1428750"/>
            <a:chExt cx="11125200" cy="304800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1714500" cy="4191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2247900" y="1428750"/>
              <a:ext cx="2952750" cy="4191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5200650" y="1428750"/>
              <a:ext cx="2952750" cy="4191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8153400" y="1428750"/>
              <a:ext cx="3505200" cy="4191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672465" y="15821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对比维度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86965" y="1582102"/>
              <a:ext cx="17708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HTCC/LTCC（传统）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39715" y="1582102"/>
              <a:ext cx="116217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日本进口 MCS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2465" y="1582102"/>
              <a:ext cx="131766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cBMCS（公司）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184785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2247900" y="18478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5200650" y="18478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8153400" y="184785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72465" y="2001202"/>
              <a:ext cx="5386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良品率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6965" y="2001202"/>
              <a:ext cx="5979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30–60%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39715" y="2001202"/>
              <a:ext cx="131606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60–80%（定制）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1512" y="1993106"/>
              <a:ext cx="104355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预计 &gt; 85%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28600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2247900" y="22860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Rectangle 27"/>
            <p:cNvSpPr/>
            <p:nvPr/>
          </p:nvSpPr>
          <p:spPr>
            <a:xfrm>
              <a:off x="5200650" y="22860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8153400" y="228600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72465" y="243935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生产周期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6965" y="2439352"/>
              <a:ext cx="9056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数天 ~ 数周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39715" y="2439352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数周（交期长）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1512" y="2431256"/>
              <a:ext cx="13401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0.5–2 小时键合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72415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Rectangle 34"/>
            <p:cNvSpPr/>
            <p:nvPr/>
          </p:nvSpPr>
          <p:spPr>
            <a:xfrm>
              <a:off x="2247900" y="27241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Rectangle 35"/>
            <p:cNvSpPr/>
            <p:nvPr/>
          </p:nvSpPr>
          <p:spPr>
            <a:xfrm>
              <a:off x="5200650" y="27241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Rectangle 36"/>
            <p:cNvSpPr/>
            <p:nvPr/>
          </p:nvSpPr>
          <p:spPr>
            <a:xfrm>
              <a:off x="8153400" y="272415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672465" y="28775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尺寸精度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86965" y="2877502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低（收缩难控）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39715" y="2877502"/>
              <a:ext cx="35907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中等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1512" y="2869406"/>
              <a:ext cx="144751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高（各层独立）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16230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Rectangle 42"/>
            <p:cNvSpPr/>
            <p:nvPr/>
          </p:nvSpPr>
          <p:spPr>
            <a:xfrm>
              <a:off x="2247900" y="31623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Rectangle 43"/>
            <p:cNvSpPr/>
            <p:nvPr/>
          </p:nvSpPr>
          <p:spPr>
            <a:xfrm>
              <a:off x="5200650" y="31623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Rectangle 44"/>
            <p:cNvSpPr/>
            <p:nvPr/>
          </p:nvSpPr>
          <p:spPr>
            <a:xfrm>
              <a:off x="8153400" y="316230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5" name="TextBox 45"/>
            <p:cNvSpPr txBox="1"/>
            <p:nvPr/>
          </p:nvSpPr>
          <p:spPr>
            <a:xfrm>
              <a:off x="672465" y="331565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残余应力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86965" y="3315652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高（变形风险）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39715" y="3315652"/>
              <a:ext cx="35907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中等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1512" y="3307556"/>
              <a:ext cx="4135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近零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60045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Rectangle 50"/>
            <p:cNvSpPr/>
            <p:nvPr/>
          </p:nvSpPr>
          <p:spPr>
            <a:xfrm>
              <a:off x="2247900" y="36004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Rectangle 51"/>
            <p:cNvSpPr/>
            <p:nvPr/>
          </p:nvSpPr>
          <p:spPr>
            <a:xfrm>
              <a:off x="5200650" y="360045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Rectangle 52"/>
            <p:cNvSpPr/>
            <p:nvPr/>
          </p:nvSpPr>
          <p:spPr>
            <a:xfrm>
              <a:off x="8153400" y="360045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672465" y="37538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键合强度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386965" y="3753802"/>
              <a:ext cx="3093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N/A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39715" y="3753802"/>
              <a:ext cx="5386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不公开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1512" y="3745706"/>
              <a:ext cx="172002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≥ 310MPa（实测）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038600"/>
              <a:ext cx="1714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2247900" y="40386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Rectangle 59"/>
            <p:cNvSpPr/>
            <p:nvPr/>
          </p:nvSpPr>
          <p:spPr>
            <a:xfrm>
              <a:off x="5200650" y="4038600"/>
              <a:ext cx="295275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0" name="Rectangle 60"/>
            <p:cNvSpPr/>
            <p:nvPr/>
          </p:nvSpPr>
          <p:spPr>
            <a:xfrm>
              <a:off x="8153400" y="4038600"/>
              <a:ext cx="3505200" cy="43815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672465" y="4191952"/>
              <a:ext cx="10772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国产化可行性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386965" y="4191952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受限（原材料）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39715" y="4191952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不可能（进口）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91512" y="4183856"/>
              <a:ext cx="82715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完全可控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18160" y="4823460"/>
            <a:ext cx="11140440" cy="1056679"/>
            <a:chOff x="518160" y="4823460"/>
            <a:chExt cx="11140440" cy="1056679"/>
          </a:xfrm>
        </p:grpSpPr>
        <p:sp>
          <p:nvSpPr>
            <p:cNvPr id="66" name="TextBox 66"/>
            <p:cNvSpPr txBox="1"/>
            <p:nvPr/>
          </p:nvSpPr>
          <p:spPr>
            <a:xfrm>
              <a:off x="518160" y="4823460"/>
              <a:ext cx="18594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四重叠加的护城河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0065" y="5220652"/>
              <a:ext cx="94256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① 原创工艺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0064" y="5449251"/>
              <a:ext cx="254877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共键合替代传统共烧，无收缩、</a:t>
              </a:r>
              <a:endParaRPr lang="en-US" altLang="zh-CN" sz="1400" dirty="0">
                <a:solidFill>
                  <a:srgbClr val="1F2937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近零残余应力、各层可独立质检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10915" y="5220652"/>
              <a:ext cx="94256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② 知识产权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510915" y="5449252"/>
              <a:ext cx="252473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发明专利 2 项 + 专有技术 2 项，</a:t>
              </a:r>
              <a:endParaRPr lang="en-US" altLang="zh-CN" sz="1400" dirty="0">
                <a:solidFill>
                  <a:srgbClr val="1F2937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产权清晰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44665" y="5220652"/>
              <a:ext cx="112210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③ 团队与客户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44665" y="5449252"/>
              <a:ext cx="2154436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顶尖学者领衔，与 华芯国际、</a:t>
              </a:r>
              <a:endParaRPr lang="en-US" altLang="zh-CN" sz="1400" dirty="0">
                <a:solidFill>
                  <a:srgbClr val="1F2937"/>
                </a:solidFill>
                <a:latin typeface="Times New Roman"/>
                <a:ea typeface="楷体"/>
                <a:cs typeface="Times New Roman"/>
              </a:endParaRPr>
            </a:p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北方精创、芯微科技等沟通推进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83165" y="5220652"/>
              <a:ext cx="94256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④ 数据验证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83165" y="5449251"/>
              <a:ext cx="157543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键合强度、热导率等已获实测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76" name="Line 76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77" name="TextBox 77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55558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三大目标应用合计约 50 亿美元级，同享 AI + 电动车 + 国产替代东风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691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市场足够大——即便只吃下一小块份额，也足以支撑十亿级营收的退出想象，这是 VC Method「2031 年营收约 10 亿」的产业基础。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4266" y="1240958"/>
            <a:ext cx="5905500" cy="3619500"/>
            <a:chOff x="533400" y="1428750"/>
            <a:chExt cx="5905500" cy="361950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5905500" cy="3619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442" y="1581150"/>
              <a:ext cx="5365416" cy="31432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73418" y="4847749"/>
              <a:ext cx="2859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三大目标应用全球市场规模（按各自 CAGR 外推）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52260" y="1470660"/>
            <a:ext cx="5006340" cy="3348990"/>
            <a:chOff x="6652260" y="1470660"/>
            <a:chExt cx="5006340" cy="3348990"/>
          </a:xfrm>
        </p:grpSpPr>
        <p:sp>
          <p:nvSpPr>
            <p:cNvPr id="13" name="TextBox 13"/>
            <p:cNvSpPr txBox="1"/>
            <p:nvPr/>
          </p:nvSpPr>
          <p:spPr>
            <a:xfrm>
              <a:off x="6652260" y="1470660"/>
              <a:ext cx="22746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三大目标市场（亿美元）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1771650"/>
              <a:ext cx="4991100" cy="742950"/>
            </a:xfrm>
            <a:prstGeom prst="roundRect">
              <a:avLst>
                <a:gd name="adj" fmla="val 7692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881812" y="1916906"/>
              <a:ext cx="119584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全球 Si₃N₄ 基板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7050" y="2143125"/>
              <a:ext cx="13657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20.80</a:t>
              </a:r>
              <a:r>
                <a:rPr lang="zh-CN" sz="12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→ 29.69 亿$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85587" y="2077402"/>
              <a:ext cx="9052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CAGR 6.11%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2609850"/>
              <a:ext cx="4991100" cy="742950"/>
            </a:xfrm>
            <a:prstGeom prst="roundRect">
              <a:avLst>
                <a:gd name="adj" fmla="val 7692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6881812" y="2755106"/>
              <a:ext cx="14715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全球静电卡盘 ESC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7050" y="2981325"/>
              <a:ext cx="13657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18.91</a:t>
              </a:r>
              <a:r>
                <a:rPr lang="zh-CN" sz="12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→ 25.34 亿$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54067" y="2915602"/>
              <a:ext cx="83676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CAGR 5.0%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0" y="3448050"/>
              <a:ext cx="4991100" cy="742950"/>
            </a:xfrm>
            <a:prstGeom prst="roundRect">
              <a:avLst>
                <a:gd name="adj" fmla="val 7692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881812" y="3593306"/>
              <a:ext cx="125675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全球陶瓷加热器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7050" y="3819525"/>
              <a:ext cx="13529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11.03</a:t>
              </a:r>
              <a:r>
                <a:rPr lang="zh-CN" sz="12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→ 16.77 亿$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54067" y="3753802"/>
              <a:ext cx="83676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CAGR 6.0%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4286250"/>
              <a:ext cx="4991100" cy="533400"/>
            </a:xfrm>
            <a:prstGeom prst="roundRect">
              <a:avLst>
                <a:gd name="adj" fmla="val 10714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881812" y="4431506"/>
              <a:ext cx="30388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全球 MCS（HTCC+LTCC）≈ 48.5 亿$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83718" y="4638199"/>
              <a:ext cx="167834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陶瓷基板进口依存度 &gt; 90%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4284" y="5199920"/>
            <a:ext cx="6598638" cy="1039058"/>
            <a:chOff x="6652260" y="5128260"/>
            <a:chExt cx="4783663" cy="1039058"/>
          </a:xfrm>
        </p:grpSpPr>
        <p:sp>
          <p:nvSpPr>
            <p:cNvPr id="30" name="TextBox 30"/>
            <p:cNvSpPr txBox="1"/>
            <p:nvPr/>
          </p:nvSpPr>
          <p:spPr>
            <a:xfrm>
              <a:off x="6652260" y="5128260"/>
              <a:ext cx="124072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三股产业东风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4165" y="5449252"/>
              <a:ext cx="42094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AI 算力散热</a:t>
              </a:r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——大模型算力军备竞赛对散热基板提出极致要求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4165" y="5715952"/>
              <a:ext cx="40572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电动车功率器件</a:t>
              </a:r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——IGBT/SiC 爆发式增长，拉动高导热基板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4165" y="5982652"/>
              <a:ext cx="478175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晶圆厂扩产 + 国产替代</a:t>
              </a:r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——进口替代从商业选项变为产业安全刚性要求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35" name="Line 35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07</a:t>
              </a: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42267409-0181-9D69-5535-9349C3512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533" y="5230753"/>
            <a:ext cx="2108200" cy="10033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7CA352A-A4CD-537C-7345-FAE985A6A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806" y="5204249"/>
            <a:ext cx="29083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824817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以退定投为核心，四方法交叉验证，避免单一方法带偏结论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7252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权重分配本身就是判断取向：VC 法最贴合早期「以退定投」本质给最高权重；Berkus 与可比 PS 降权，作区间的下沿与上沿参考。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428750"/>
            <a:ext cx="11125200" cy="1809750"/>
            <a:chOff x="533400" y="1428750"/>
            <a:chExt cx="11125200" cy="180975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2638425" cy="1809750"/>
            </a:xfrm>
            <a:prstGeom prst="roundRect">
              <a:avLst>
                <a:gd name="adj" fmla="val 4211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625918"/>
              <a:ext cx="9024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VC Method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0090" y="1815465"/>
              <a:ext cx="92333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40%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63152"/>
              <a:ext cx="183383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核心：退出价值折现反推本轮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722245"/>
              <a:ext cx="141064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FD4EE"/>
                  </a:solidFill>
                  <a:latin typeface="Times New Roman"/>
                  <a:ea typeface="楷体"/>
                  <a:cs typeface="Times New Roman"/>
                </a:rPr>
                <a:t>早期以退定投主流方法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62325" y="1428750"/>
              <a:ext cx="2638425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3573780" y="1625918"/>
              <a:ext cx="77579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Scorecard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49015" y="1815465"/>
              <a:ext cx="92333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30%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7590" y="2363152"/>
              <a:ext cx="176971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团队/技术/市场加权调整基准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9495" y="2722245"/>
              <a:ext cx="126957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天使轮定性要素定价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428750"/>
              <a:ext cx="2638425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02705" y="1625918"/>
              <a:ext cx="54983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Berkus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7940" y="1815465"/>
              <a:ext cx="92333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20%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6515" y="2363152"/>
              <a:ext cx="176330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五要素法，深科技保守 ×0.9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08420" y="2722245"/>
              <a:ext cx="138659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无收入项目 · 保守下沿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20175" y="1428750"/>
              <a:ext cx="2638425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231630" y="1625918"/>
              <a:ext cx="101630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可比 PS 倍数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06865" y="1815465"/>
              <a:ext cx="92333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5440" y="2363152"/>
              <a:ext cx="156773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近端营收 × 早期 PS 校验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7345" y="2722245"/>
              <a:ext cx="165429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防止 VC 法单边高估 · 上沿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3429000"/>
            <a:ext cx="11125200" cy="609600"/>
            <a:chOff x="533400" y="3429000"/>
            <a:chExt cx="11125200" cy="609600"/>
          </a:xfrm>
        </p:grpSpPr>
        <p:sp>
          <p:nvSpPr>
            <p:cNvPr id="30" name="Rectangle 30"/>
            <p:cNvSpPr/>
            <p:nvPr/>
          </p:nvSpPr>
          <p:spPr>
            <a:xfrm>
              <a:off x="533400" y="3429000"/>
              <a:ext cx="11125200" cy="609600"/>
            </a:xfrm>
            <a:prstGeom prst="roundRect">
              <a:avLst>
                <a:gd name="adj" fmla="val 9375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Rectangle 31"/>
            <p:cNvSpPr/>
            <p:nvPr/>
          </p:nvSpPr>
          <p:spPr>
            <a:xfrm>
              <a:off x="533400" y="3429000"/>
              <a:ext cx="47625" cy="6096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23912" y="3574256"/>
              <a:ext cx="372832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情景 DCF —— 不纳入加权，仅作内在价值旁证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5818" y="3819049"/>
              <a:ext cx="66845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早期 DCF 对假设过于敏感，用它回答「这个价值在内生逻辑上站不站得住」，而非直接决定价格。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8160" y="4366260"/>
            <a:ext cx="11140440" cy="1767840"/>
            <a:chOff x="518160" y="4366260"/>
            <a:chExt cx="11140440" cy="1767840"/>
          </a:xfrm>
        </p:grpSpPr>
        <p:sp>
          <p:nvSpPr>
            <p:cNvPr id="35" name="TextBox 35"/>
            <p:cNvSpPr txBox="1"/>
            <p:nvPr/>
          </p:nvSpPr>
          <p:spPr>
            <a:xfrm>
              <a:off x="518160" y="4366260"/>
              <a:ext cx="144751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权重背后的判断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9112" y="4755356"/>
              <a:ext cx="932300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为什么 VC 法最高权？</a:t>
              </a: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——它直接回答「以今天这个价格进去，赔率划不划算」，最贴合天使轮投资的真实决策逻辑。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9112" y="5022056"/>
              <a:ext cx="1053333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为什么 Berkus、可比 PS 降权？</a:t>
              </a: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——Berkus 的上限机制会系统性低估深科技，可比 PS 在乐观时容易高估，故双双降权作区间上下沿。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9112" y="5288756"/>
              <a:ext cx="97651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为什么 DCF 不纳入？</a:t>
              </a: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——它的价值在于「交叉印证」，作为 VC 法之外的第二条独立路径，检验成功情景的价值是否可信。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676900"/>
              <a:ext cx="11125200" cy="457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747712" y="5841206"/>
              <a:ext cx="933588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四种方法给出的答案差异很大——但这恰恰是交叉验证的价值：乐观与警惕之间取得平衡，才能为谈判锚点找到落点。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42" name="Line 42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1010690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概率加权投前 1.99 亿元——回答「以今天这个价格进去，赔率划不划算」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3304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把「技术能否产业化成功」这个二元问题，拆成一条连续的概率光谱，按目标 MOIC 8× 将退出价值折回本轮、扣除后续稀释。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0065" y="1410652"/>
            <a:ext cx="10227543" cy="246221"/>
            <a:chOff x="520065" y="1410652"/>
            <a:chExt cx="10227543" cy="246221"/>
          </a:xfrm>
        </p:grpSpPr>
        <p:sp>
          <p:nvSpPr>
            <p:cNvPr id="9" name="TextBox 9"/>
            <p:cNvSpPr txBox="1"/>
            <p:nvPr/>
          </p:nvSpPr>
          <p:spPr>
            <a:xfrm>
              <a:off x="520065" y="1410652"/>
              <a:ext cx="1022754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核心输入：退出年 2031 ｜ 退出营收 10 亿（BP 口径）｜ 目标 MOIC 8× ｜ 可比 EV/Rev 8× ｜ 一级市场折价 60%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9822" y="1824990"/>
            <a:ext cx="5905500" cy="2924375"/>
            <a:chOff x="533400" y="1695450"/>
            <a:chExt cx="5905500" cy="2171700"/>
          </a:xfrm>
        </p:grpSpPr>
        <p:sp>
          <p:nvSpPr>
            <p:cNvPr id="11" name="Rectangle 11"/>
            <p:cNvSpPr/>
            <p:nvPr/>
          </p:nvSpPr>
          <p:spPr>
            <a:xfrm>
              <a:off x="533400" y="1695450"/>
              <a:ext cx="5905500" cy="3810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673418" y="1837849"/>
              <a:ext cx="269304" cy="116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情景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3023" y="1837849"/>
              <a:ext cx="538609" cy="116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退出营收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17023" y="1837849"/>
              <a:ext cx="538609" cy="116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退出权益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1023" y="1837849"/>
              <a:ext cx="538609" cy="116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隐含投前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96203" y="1837849"/>
              <a:ext cx="269304" cy="116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概率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076450"/>
              <a:ext cx="5905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72465" y="2239328"/>
              <a:ext cx="307777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乐观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0920" y="2239328"/>
              <a:ext cx="461665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12.5 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4920" y="2239328"/>
              <a:ext cx="461665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75.0 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5031" y="2239328"/>
              <a:ext cx="615553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47,063 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4331" y="2239328"/>
              <a:ext cx="282129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514600"/>
              <a:ext cx="59055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72465" y="2677478"/>
              <a:ext cx="307777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基准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6336" y="2677478"/>
              <a:ext cx="346249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10 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94920" y="2677478"/>
              <a:ext cx="461665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48.0 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65031" y="2677478"/>
              <a:ext cx="615553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22,500 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84331" y="2677478"/>
              <a:ext cx="282129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55%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952750"/>
              <a:ext cx="5905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72465" y="3115628"/>
              <a:ext cx="307777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悲观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63281" y="3115628"/>
              <a:ext cx="269304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6 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1864" y="3115628"/>
              <a:ext cx="384721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9.6 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0830" y="3115628"/>
              <a:ext cx="509755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−300 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84331" y="3115628"/>
              <a:ext cx="282129" cy="133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90900"/>
              <a:ext cx="5905500" cy="4762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71512" y="3564731"/>
              <a:ext cx="718145" cy="155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概率加权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18929" y="3564731"/>
              <a:ext cx="538609" cy="155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43.8 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63393" y="3564731"/>
              <a:ext cx="718145" cy="155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19,864 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18571" y="3564731"/>
              <a:ext cx="448841" cy="155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100%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4814435"/>
            <a:ext cx="5905500" cy="1182049"/>
            <a:chOff x="533400" y="4019550"/>
            <a:chExt cx="5905500" cy="902226"/>
          </a:xfrm>
        </p:grpSpPr>
        <p:sp>
          <p:nvSpPr>
            <p:cNvPr id="41" name="Rectangle 41"/>
            <p:cNvSpPr/>
            <p:nvPr/>
          </p:nvSpPr>
          <p:spPr>
            <a:xfrm>
              <a:off x="533400" y="4019550"/>
              <a:ext cx="5905500" cy="876300"/>
            </a:xfrm>
            <a:prstGeom prst="roundRect">
              <a:avLst>
                <a:gd name="adj" fmla="val 6522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Rectangle 42"/>
            <p:cNvSpPr/>
            <p:nvPr/>
          </p:nvSpPr>
          <p:spPr>
            <a:xfrm>
              <a:off x="533400" y="4019550"/>
              <a:ext cx="47625" cy="8763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824865" y="4191952"/>
              <a:ext cx="373339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概率加权投后估值 ≈ 2.44 亿，扣除本轮 4,500 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865" y="4444121"/>
              <a:ext cx="3050515" cy="2114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VC Method 投前估值 ≈ </a:t>
              </a:r>
              <a:r>
                <a:rPr lang="zh-CN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1.99 亿元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5818" y="4752499"/>
              <a:ext cx="392575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四种方法中权重最高（40%），最能代表投资人真实决策逻辑。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06992" y="1849434"/>
            <a:ext cx="5030239" cy="2937788"/>
            <a:chOff x="6667500" y="1376793"/>
            <a:chExt cx="5030239" cy="2937788"/>
          </a:xfrm>
        </p:grpSpPr>
        <p:sp>
          <p:nvSpPr>
            <p:cNvPr id="47" name="Rectangle 47"/>
            <p:cNvSpPr/>
            <p:nvPr/>
          </p:nvSpPr>
          <p:spPr>
            <a:xfrm>
              <a:off x="6667500" y="1428750"/>
              <a:ext cx="499110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9363" y="1376793"/>
              <a:ext cx="4968376" cy="2937788"/>
            </a:xfrm>
            <a:prstGeom prst="rect">
              <a:avLst/>
            </a:prstGeom>
          </p:spPr>
        </p:pic>
      </p:grpSp>
      <p:grpSp>
        <p:nvGrpSpPr>
          <p:cNvPr id="56" name="Group 56"/>
          <p:cNvGrpSpPr/>
          <p:nvPr/>
        </p:nvGrpSpPr>
        <p:grpSpPr>
          <a:xfrm>
            <a:off x="6972300" y="4995559"/>
            <a:ext cx="4444448" cy="446475"/>
            <a:chOff x="6864279" y="4676931"/>
            <a:chExt cx="4444448" cy="446475"/>
          </a:xfrm>
        </p:grpSpPr>
        <p:sp>
          <p:nvSpPr>
            <p:cNvPr id="52" name="TextBox 52"/>
            <p:cNvSpPr txBox="1"/>
            <p:nvPr/>
          </p:nvSpPr>
          <p:spPr>
            <a:xfrm>
              <a:off x="6864279" y="4676931"/>
              <a:ext cx="124072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情景概率分布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9869" y="4692519"/>
              <a:ext cx="3048858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基准 55% / 乐观 20%</a:t>
              </a:r>
              <a:r>
                <a:rPr lang="zh-CN" altLang="en-US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</a:t>
              </a:r>
              <a:r>
                <a:rPr lang="en-US" alt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/</a:t>
              </a:r>
              <a:r>
                <a:rPr lang="zh-CN" altLang="en-US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</a:t>
              </a:r>
              <a:r>
                <a:rPr lang="zh-CN" altLang="zh-CN" sz="1400" dirty="0">
                  <a:solidFill>
                    <a:srgbClr val="64748B"/>
                  </a:solidFill>
                  <a:ea typeface="楷体"/>
                </a:rPr>
                <a:t>悲观 25%</a:t>
              </a:r>
            </a:p>
            <a:p>
              <a:pPr algn="l"/>
              <a:endParaRPr lang="zh-CN" sz="1400" dirty="0">
                <a:solidFill>
                  <a:srgbClr val="64748B"/>
                </a:solidFill>
                <a:latin typeface="Times New Roman"/>
                <a:ea typeface="楷体"/>
                <a:cs typeface="Times New Roman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57" name="Line 57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58" name="TextBox 58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114930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Scorecard 1.19 亿定价「人与赛道」，Berkus 648 万钉下「若失败」的清算下沿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8691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团队与技术两项都到 150%，说明最强资产是「人」和「原创技术」；Berkus 的 648 万是这段故事里必要的悲观者。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18160" y="1432560"/>
            <a:ext cx="5730240" cy="4448410"/>
            <a:chOff x="518160" y="1432560"/>
            <a:chExt cx="5730240" cy="4448410"/>
          </a:xfrm>
        </p:grpSpPr>
        <p:sp>
          <p:nvSpPr>
            <p:cNvPr id="9" name="TextBox 9"/>
            <p:cNvSpPr txBox="1"/>
            <p:nvPr/>
          </p:nvSpPr>
          <p:spPr>
            <a:xfrm>
              <a:off x="518160" y="1432560"/>
              <a:ext cx="35693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Scorecard 计分卡（行业基准 9,000 万）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1714500"/>
              <a:ext cx="5715000" cy="32385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36420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评估维度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61625" y="1836420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权重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40070" y="1836420"/>
              <a:ext cx="53861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相对评分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1424" y="1836420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加权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038350"/>
              <a:ext cx="5715000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673418" y="2161699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管理团队实力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85020" y="216169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30%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43001" y="2161699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150%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93831" y="2161699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45.0%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00300"/>
              <a:ext cx="5715000" cy="3619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73418" y="2523649"/>
              <a:ext cx="9121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机会 / 市场规模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5020" y="252364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25%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43001" y="2523649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130%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3831" y="2523649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32.5%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62250"/>
              <a:ext cx="5715000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73418" y="2885599"/>
              <a:ext cx="64280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技术 / 产品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85020" y="288559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15%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43001" y="2885599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150%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3831" y="2885599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22.5%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124200"/>
              <a:ext cx="5715000" cy="3619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73418" y="3247549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竞争环境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85020" y="324754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10%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65443" y="3247549"/>
              <a:ext cx="31418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120%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93831" y="3247549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12.0%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86150"/>
              <a:ext cx="5715000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73418" y="3609499"/>
              <a:ext cx="1016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营销 / 销售 / 合作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85020" y="360949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10%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32770" y="360949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90%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61157" y="3609499"/>
              <a:ext cx="28052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9.0%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848100"/>
              <a:ext cx="5715000" cy="3619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673418" y="3971449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额外投资需求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52346" y="3971449"/>
              <a:ext cx="17953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5%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32770" y="3971449"/>
              <a:ext cx="24686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80%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61157" y="3971449"/>
              <a:ext cx="28052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4.0%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210050"/>
              <a:ext cx="5715000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73418" y="4333399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其他因素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2346" y="4333399"/>
              <a:ext cx="17953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5%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43001" y="4333399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150%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61157" y="4333399"/>
              <a:ext cx="28052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7.5%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572000"/>
              <a:ext cx="5715000" cy="4191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672465" y="472535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加权合计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48114" y="4725352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100%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26697" y="4725352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77690" y="4709160"/>
              <a:ext cx="66685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132.5%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143499"/>
              <a:ext cx="5715000" cy="728663"/>
            </a:xfrm>
            <a:prstGeom prst="roundRect">
              <a:avLst>
                <a:gd name="adj" fmla="val 10714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Rectangle 56"/>
            <p:cNvSpPr/>
            <p:nvPr/>
          </p:nvSpPr>
          <p:spPr>
            <a:xfrm>
              <a:off x="533400" y="5143499"/>
              <a:ext cx="65845" cy="737471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7" name="TextBox 57"/>
            <p:cNvSpPr txBox="1"/>
            <p:nvPr/>
          </p:nvSpPr>
          <p:spPr>
            <a:xfrm>
              <a:off x="825818" y="5285899"/>
              <a:ext cx="15965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9,000 万 × 132.5% =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7435" y="5575493"/>
              <a:ext cx="22938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Scorecard 投前 ≈ </a:t>
              </a:r>
              <a:r>
                <a:rPr lang="zh-CN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1.19 亿元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652260" y="1432560"/>
            <a:ext cx="5006340" cy="4437298"/>
            <a:chOff x="6652260" y="1432560"/>
            <a:chExt cx="5006340" cy="4437298"/>
          </a:xfrm>
        </p:grpSpPr>
        <p:sp>
          <p:nvSpPr>
            <p:cNvPr id="60" name="TextBox 60"/>
            <p:cNvSpPr txBox="1"/>
            <p:nvPr/>
          </p:nvSpPr>
          <p:spPr>
            <a:xfrm>
              <a:off x="6652260" y="1432560"/>
              <a:ext cx="351859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Berkus 五要素法（× 硬科技系数 0.9）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67500" y="1714500"/>
              <a:ext cx="4991100" cy="32385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2" name="TextBox 62"/>
            <p:cNvSpPr txBox="1"/>
            <p:nvPr/>
          </p:nvSpPr>
          <p:spPr>
            <a:xfrm>
              <a:off x="6808470" y="1836420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要素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71517" y="1836420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赋值（万元）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67500" y="2038350"/>
              <a:ext cx="49911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5" name="TextBox 65"/>
            <p:cNvSpPr txBox="1"/>
            <p:nvPr/>
          </p:nvSpPr>
          <p:spPr>
            <a:xfrm>
              <a:off x="6807518" y="2171224"/>
              <a:ext cx="118141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合理创意 / 商业价值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83931" y="2171224"/>
              <a:ext cx="1346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90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67500" y="2419350"/>
              <a:ext cx="4991100" cy="381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8" name="TextBox 68"/>
            <p:cNvSpPr txBox="1"/>
            <p:nvPr/>
          </p:nvSpPr>
          <p:spPr>
            <a:xfrm>
              <a:off x="6807518" y="2552224"/>
              <a:ext cx="118141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原型产品 / 技术验证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316604" y="2552224"/>
              <a:ext cx="20197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180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67500" y="2800350"/>
              <a:ext cx="49911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1" name="TextBox 71"/>
            <p:cNvSpPr txBox="1"/>
            <p:nvPr/>
          </p:nvSpPr>
          <p:spPr>
            <a:xfrm>
              <a:off x="6807518" y="2933224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优质团队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316604" y="2933224"/>
              <a:ext cx="20197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280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67500" y="3181350"/>
              <a:ext cx="4991100" cy="381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4" name="TextBox 74"/>
            <p:cNvSpPr txBox="1"/>
            <p:nvPr/>
          </p:nvSpPr>
          <p:spPr>
            <a:xfrm>
              <a:off x="6807518" y="3314224"/>
              <a:ext cx="9121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战略关系 / 客户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316604" y="3314224"/>
              <a:ext cx="20197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110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667500" y="3562350"/>
              <a:ext cx="49911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7" name="TextBox 77"/>
            <p:cNvSpPr txBox="1"/>
            <p:nvPr/>
          </p:nvSpPr>
          <p:spPr>
            <a:xfrm>
              <a:off x="6807518" y="3695224"/>
              <a:ext cx="9121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产品发布 / 销售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383931" y="3695224"/>
              <a:ext cx="1346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60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667500" y="3943350"/>
              <a:ext cx="4991100" cy="4191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0" name="TextBox 80"/>
            <p:cNvSpPr txBox="1"/>
            <p:nvPr/>
          </p:nvSpPr>
          <p:spPr>
            <a:xfrm>
              <a:off x="6806565" y="4096702"/>
              <a:ext cx="10002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小计 720 × 0.9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55579" y="4080510"/>
              <a:ext cx="56586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648 万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667500" y="4514850"/>
              <a:ext cx="4991100" cy="1355008"/>
            </a:xfrm>
            <a:prstGeom prst="roundRect">
              <a:avLst>
                <a:gd name="adj" fmla="val 4918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3" name="Rectangle 83"/>
            <p:cNvSpPr/>
            <p:nvPr/>
          </p:nvSpPr>
          <p:spPr>
            <a:xfrm>
              <a:off x="6667500" y="4514850"/>
              <a:ext cx="55379" cy="1351258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4" name="TextBox 84"/>
            <p:cNvSpPr txBox="1"/>
            <p:nvPr/>
          </p:nvSpPr>
          <p:spPr>
            <a:xfrm>
              <a:off x="6959918" y="4676299"/>
              <a:ext cx="45733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这不是模型出错——Berkus 的上限机制天生为消费与互联网早期项目设计，对「资本密集、退出价值巨大」的深科技会系统性偏低。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70888" y="5200172"/>
              <a:ext cx="46655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我们保留它并赋 20% 权重，正是要用这个极度保守的数字为估值区间钉下一个下沿。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74206" y="5643087"/>
              <a:ext cx="377026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万一技术始终走不出实验室，投资人的价值大致就在这个量级。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88" name="Line 88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89" name="TextBox 89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20904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可比 PS 倍数给出 3.6 亿上沿——若对标上市同行，想象空间有多高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75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半导体零部件板块 EV/Rev 大致 7×–12×、中位 8×；对早期一级市场取折价后，构成估值区间的上沿。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8160" y="1432560"/>
            <a:ext cx="5730240" cy="2625090"/>
            <a:chOff x="518160" y="1432560"/>
            <a:chExt cx="5730240" cy="2625090"/>
          </a:xfrm>
        </p:grpSpPr>
        <p:sp>
          <p:nvSpPr>
            <p:cNvPr id="9" name="TextBox 9"/>
            <p:cNvSpPr txBox="1"/>
            <p:nvPr/>
          </p:nvSpPr>
          <p:spPr>
            <a:xfrm>
              <a:off x="518160" y="1432560"/>
              <a:ext cx="285013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可比上市公司 EV/Revenue 倍数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1714500"/>
              <a:ext cx="5715000" cy="3429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36420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公司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46070" y="1836420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领域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91888" y="1836420"/>
              <a:ext cx="44884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EV/Rev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057400"/>
              <a:ext cx="5715000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72465" y="21917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富创精密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5118" y="2199799"/>
              <a:ext cx="134652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半导体设备精密零部件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74282" y="2183606"/>
              <a:ext cx="2693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9×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57450"/>
              <a:ext cx="5715000" cy="4000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672465" y="259175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珂玛科技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45118" y="2599849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半导体陶瓷零部件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1184" y="2583656"/>
              <a:ext cx="35240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11×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57500"/>
              <a:ext cx="5715000" cy="400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72465" y="299180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华卓精科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45118" y="2999899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精密运动系统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84514" y="2983706"/>
              <a:ext cx="3590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12×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257550"/>
              <a:ext cx="5715000" cy="4000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72465" y="3391852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神工股份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5118" y="3399949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半导体级硅材料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74282" y="3383756"/>
              <a:ext cx="2693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7×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57600"/>
              <a:ext cx="5715000" cy="4000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72465" y="3791902"/>
              <a:ext cx="153888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行业中位（采用锚点）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45118" y="3799999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半导体零部件板块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5160" y="3775710"/>
              <a:ext cx="3093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8×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4229100"/>
            <a:ext cx="5947812" cy="1428750"/>
            <a:chOff x="533400" y="4229100"/>
            <a:chExt cx="5947812" cy="1428750"/>
          </a:xfrm>
        </p:grpSpPr>
        <p:sp>
          <p:nvSpPr>
            <p:cNvPr id="35" name="Rectangle 35"/>
            <p:cNvSpPr/>
            <p:nvPr/>
          </p:nvSpPr>
          <p:spPr>
            <a:xfrm>
              <a:off x="533400" y="4229100"/>
              <a:ext cx="5715000" cy="1428750"/>
            </a:xfrm>
            <a:prstGeom prst="roundRect">
              <a:avLst>
                <a:gd name="adj" fmla="val 4000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Rectangle 36"/>
            <p:cNvSpPr/>
            <p:nvPr/>
          </p:nvSpPr>
          <p:spPr>
            <a:xfrm>
              <a:off x="533400" y="4229100"/>
              <a:ext cx="47625" cy="142875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824865" y="4401502"/>
              <a:ext cx="26032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可比估值推导（近端营收 × 早期 PS）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4865" y="4687252"/>
              <a:ext cx="416941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近端营收 2028E = 3,000 万 × 早期 PS 12× = </a:t>
              </a:r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3.6 亿元</a:t>
              </a:r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（上沿）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4865" y="4953952"/>
              <a:ext cx="38472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若按行业中位 8× 取值，则对应约 </a:t>
              </a:r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2.4 亿元</a:t>
              </a:r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 的保守参照。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818" y="5228749"/>
              <a:ext cx="56553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这面「市场的镜子」告诉我们：如果公司真能对标已上市同行，它的想象空间可以到什么高度。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770" y="5446395"/>
              <a:ext cx="39049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注：可比倍数未取到实时市场数据，属分析师判断，需尽调替换。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67500" y="1562100"/>
            <a:ext cx="5054522" cy="4095750"/>
            <a:chOff x="6667500" y="1562100"/>
            <a:chExt cx="5054522" cy="4095750"/>
          </a:xfrm>
        </p:grpSpPr>
        <p:sp>
          <p:nvSpPr>
            <p:cNvPr id="43" name="Rectangle 43"/>
            <p:cNvSpPr/>
            <p:nvPr/>
          </p:nvSpPr>
          <p:spPr>
            <a:xfrm>
              <a:off x="6667500" y="1562100"/>
              <a:ext cx="5054522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2862" y="1996916"/>
              <a:ext cx="5049160" cy="3020480"/>
            </a:xfrm>
            <a:prstGeom prst="rect">
              <a:avLst/>
            </a:prstGeom>
          </p:spPr>
        </p:pic>
      </p:grpSp>
      <p:grpSp>
        <p:nvGrpSpPr>
          <p:cNvPr id="49" name="Group 49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46" name="Line 46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0515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基准情景 DCF 隐含投前 1.76 亿，与 VC 法 1.99 亿独立交叉印证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8431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两条完全独立的路径殊途同归，均值可信度大增；而熊市情景企业价值为负，再次提醒「成则丰厚、败则归零」。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789986"/>
            <a:ext cx="5905500" cy="3429000"/>
            <a:chOff x="533400" y="1428750"/>
            <a:chExt cx="5905500" cy="342900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59055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018" y="1581150"/>
              <a:ext cx="5230264" cy="3124200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6652260" y="1432560"/>
            <a:ext cx="5006340" cy="2110740"/>
            <a:chOff x="6652260" y="1432560"/>
            <a:chExt cx="5006340" cy="2110740"/>
          </a:xfrm>
        </p:grpSpPr>
        <p:sp>
          <p:nvSpPr>
            <p:cNvPr id="12" name="TextBox 12"/>
            <p:cNvSpPr txBox="1"/>
            <p:nvPr/>
          </p:nvSpPr>
          <p:spPr>
            <a:xfrm>
              <a:off x="6652260" y="1432560"/>
              <a:ext cx="2088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情景 DCF 企业价值（万元）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0" y="1714500"/>
              <a:ext cx="4991100" cy="36195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6807518" y="18473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情景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5791" y="1847374"/>
              <a:ext cx="639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2031 营收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47749" y="18473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企业价值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0" y="2076450"/>
              <a:ext cx="49911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806565" y="22488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熊市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7107" y="22488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60,000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36491" y="2232660"/>
              <a:ext cx="584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−3,673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0" y="2552700"/>
              <a:ext cx="4991100" cy="51435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806565" y="27251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基准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20098" y="272510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100,000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00884" y="2700814"/>
              <a:ext cx="6215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22,054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67500" y="3067050"/>
              <a:ext cx="49911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806565" y="3239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牛市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20098" y="3239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125,000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36491" y="3223260"/>
              <a:ext cx="584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8345"/>
                  </a:solidFill>
                  <a:latin typeface="Times New Roman"/>
                  <a:ea typeface="楷体"/>
                  <a:cs typeface="Times New Roman"/>
                </a:rPr>
                <a:t>96,095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0" y="3714750"/>
            <a:ext cx="4991100" cy="1387316"/>
            <a:chOff x="6667500" y="3714750"/>
            <a:chExt cx="4991100" cy="1387316"/>
          </a:xfrm>
        </p:grpSpPr>
        <p:sp>
          <p:nvSpPr>
            <p:cNvPr id="30" name="Rectangle 30"/>
            <p:cNvSpPr/>
            <p:nvPr/>
          </p:nvSpPr>
          <p:spPr>
            <a:xfrm>
              <a:off x="6667500" y="3714750"/>
              <a:ext cx="4991100" cy="1387316"/>
            </a:xfrm>
            <a:prstGeom prst="roundRect">
              <a:avLst>
                <a:gd name="adj" fmla="val 4615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Rectangle 31"/>
            <p:cNvSpPr/>
            <p:nvPr/>
          </p:nvSpPr>
          <p:spPr>
            <a:xfrm>
              <a:off x="6667500" y="3714750"/>
              <a:ext cx="61912" cy="135731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6958965" y="3887152"/>
              <a:ext cx="112851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基准情景交叉印证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58965" y="4172902"/>
              <a:ext cx="239809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企业价值 22,054 万，扣除本轮 4,500 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8012" y="4431506"/>
              <a:ext cx="38227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DCF 隐含投前 ≈ </a:t>
              </a:r>
              <a:r>
                <a:rPr lang="zh-CN" sz="16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1.76 亿元</a:t>
              </a:r>
              <a:r>
                <a:rPr lang="zh-CN" sz="12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（与 VC 法 1.99 亿同区间）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60870" y="4703444"/>
              <a:ext cx="456623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注：用偏高 WACC 吸收早期执行与生存风险；终值占 EV 比重 &gt; 85%，价值高度依赖长期盈利。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52260" y="5273516"/>
            <a:ext cx="4991100" cy="571500"/>
            <a:chOff x="6667500" y="5105400"/>
            <a:chExt cx="4991100" cy="571500"/>
          </a:xfrm>
        </p:grpSpPr>
        <p:sp>
          <p:nvSpPr>
            <p:cNvPr id="37" name="Rectangle 37"/>
            <p:cNvSpPr/>
            <p:nvPr/>
          </p:nvSpPr>
          <p:spPr>
            <a:xfrm>
              <a:off x="6667500" y="5105400"/>
              <a:ext cx="4991100" cy="571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883718" y="5247799"/>
              <a:ext cx="455733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VC 法从「退出倍数」推价值，DCF 从「现金流折现」推价值——两者独立，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3718" y="5438299"/>
              <a:ext cx="339997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殊途同归落在同一区间，大幅增强 1.53 亿均值的可信度。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41" name="Line 41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963434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加权投前 1.53 亿元（区间 0.06–3.6 亿），本轮 4,500 万换 22.8%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8540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区间不是模糊而是诚实——下沿是 Berkus 的冷静警告，上沿是可比 PS 的乐观想象，中间由 VC 法与 DCF 共同锚定。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333500"/>
            <a:ext cx="7239000" cy="4095750"/>
            <a:chOff x="533400" y="1333500"/>
            <a:chExt cx="7239000" cy="4095750"/>
          </a:xfrm>
        </p:grpSpPr>
        <p:sp>
          <p:nvSpPr>
            <p:cNvPr id="9" name="Rectangle 9"/>
            <p:cNvSpPr/>
            <p:nvPr/>
          </p:nvSpPr>
          <p:spPr>
            <a:xfrm>
              <a:off x="533400" y="1333500"/>
              <a:ext cx="72390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59" y="1485900"/>
              <a:ext cx="6827482" cy="379095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8001000" y="1333500"/>
            <a:ext cx="3657600" cy="4095750"/>
            <a:chOff x="8001000" y="1333500"/>
            <a:chExt cx="3657600" cy="4095750"/>
          </a:xfrm>
        </p:grpSpPr>
        <p:sp>
          <p:nvSpPr>
            <p:cNvPr id="12" name="Rectangle 12"/>
            <p:cNvSpPr/>
            <p:nvPr/>
          </p:nvSpPr>
          <p:spPr>
            <a:xfrm>
              <a:off x="8001000" y="1333500"/>
              <a:ext cx="3657600" cy="914400"/>
            </a:xfrm>
            <a:prstGeom prst="roundRect">
              <a:avLst>
                <a:gd name="adj" fmla="val 8333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8216265" y="1505902"/>
              <a:ext cx="112851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投前估值（均值）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5310" y="1765935"/>
              <a:ext cx="103233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1.53</a:t>
              </a:r>
              <a:r>
                <a:rPr lang="zh-CN" sz="14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 亿元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2400300"/>
              <a:ext cx="36576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8217218" y="2580799"/>
              <a:ext cx="112530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本轮投资 / 投后估值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06740" y="2777490"/>
              <a:ext cx="19011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4,500 万</a:t>
              </a:r>
              <a:r>
                <a:rPr lang="zh-CN" sz="12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→ </a:t>
              </a:r>
              <a:r>
                <a:rPr lang="zh-CN" sz="20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1.98 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3238500"/>
              <a:ext cx="36576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217218" y="3418999"/>
              <a:ext cx="112530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本轮股比 / 估值区间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06740" y="3615690"/>
              <a:ext cx="1633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22.8%</a:t>
              </a:r>
              <a:r>
                <a:rPr lang="zh-CN" sz="1200" b="1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 / 0.06 – 3.6 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4076700"/>
              <a:ext cx="3657600" cy="1352550"/>
            </a:xfrm>
            <a:prstGeom prst="roundRect">
              <a:avLst>
                <a:gd name="adj" fmla="val 5634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4076700"/>
              <a:ext cx="47625" cy="135255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93418" y="4257199"/>
              <a:ext cx="76944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谈判锚点建议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2465" y="4515802"/>
              <a:ext cx="222176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以投前 1.5 亿元附近作为谈判锚点。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3419" y="4771549"/>
              <a:ext cx="32699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更关键的是结构：建议里程碑分期出资，把资金与 Si₃N₄ 供货、MCS 客户认证等节点绑定。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2465" y="5188030"/>
              <a:ext cx="320600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投资人买下的不应是赌注，而是一串可随时叫停的期权。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28" name="Line 28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868922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天使投资人持股至 B 轮稀释至约 13.7%，退出 MOIC 约 13.4×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73645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让创始团队保持 77.2% 控股是合理且必要的——它保证硬科技熬过漫长产业化周期所需的核心动力。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8160" y="1432560"/>
            <a:ext cx="5920740" cy="1501140"/>
            <a:chOff x="518160" y="1432560"/>
            <a:chExt cx="5920740" cy="1501140"/>
          </a:xfrm>
        </p:grpSpPr>
        <p:sp>
          <p:nvSpPr>
            <p:cNvPr id="9" name="TextBox 9"/>
            <p:cNvSpPr txBox="1"/>
            <p:nvPr/>
          </p:nvSpPr>
          <p:spPr>
            <a:xfrm>
              <a:off x="518160" y="1432560"/>
              <a:ext cx="124072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本轮股权结构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1714500"/>
              <a:ext cx="5905500" cy="3810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73418" y="1856899"/>
              <a:ext cx="3077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主体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04" y="1856899"/>
              <a:ext cx="30777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投前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49828" y="1856899"/>
              <a:ext cx="61555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本轮增发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92828" y="1856899"/>
              <a:ext cx="61555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投后持股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095500"/>
              <a:ext cx="59055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672465" y="2239328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创始团队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3761" y="2239328"/>
              <a:ext cx="3590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100%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2447" y="2239328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86142" y="2239328"/>
              <a:ext cx="4231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77.2%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14600"/>
              <a:ext cx="5905500" cy="4191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72465" y="2658428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天使投资人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78947" y="2658428"/>
              <a:ext cx="1538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7725" y="2658428"/>
              <a:ext cx="5386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4,500 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86142" y="2658428"/>
              <a:ext cx="4231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22.8%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18160" y="3261360"/>
            <a:ext cx="5920740" cy="1996440"/>
            <a:chOff x="518160" y="3261360"/>
            <a:chExt cx="5920740" cy="1996440"/>
          </a:xfrm>
        </p:grpSpPr>
        <p:sp>
          <p:nvSpPr>
            <p:cNvPr id="26" name="TextBox 26"/>
            <p:cNvSpPr txBox="1"/>
            <p:nvPr/>
          </p:nvSpPr>
          <p:spPr>
            <a:xfrm>
              <a:off x="518160" y="3261360"/>
              <a:ext cx="25758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后续融资与稀释（BP 计划）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43300"/>
              <a:ext cx="5905500" cy="342900"/>
            </a:xfrm>
            <a:prstGeom prst="rect">
              <a:avLst/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74370" y="3665220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轮次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47124" y="3665220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年份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36473" y="3665220"/>
              <a:ext cx="4039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融资额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6320" y="3665220"/>
              <a:ext cx="53861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投前估值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68820" y="3665220"/>
              <a:ext cx="53861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天使股比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86200"/>
              <a:ext cx="5905500" cy="342900"/>
            </a:xfrm>
            <a:prstGeom prst="rect">
              <a:avLst/>
            </a:prstGeom>
            <a:solidFill>
              <a:srgbClr val="E8F1F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73418" y="4000024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天使轮（本轮）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8077" y="4000024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2026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70100" y="4000024"/>
              <a:ext cx="47128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4,500 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85589" y="4000024"/>
              <a:ext cx="3702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15,253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38088" y="4000024"/>
              <a:ext cx="3702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22.8%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29100"/>
              <a:ext cx="59055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73418" y="4342924"/>
              <a:ext cx="49051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Pre-A 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48077" y="4342924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2028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70100" y="4342924"/>
              <a:ext cx="47128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8,000 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85589" y="4342924"/>
              <a:ext cx="3702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40,000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60531" y="4342924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19.0%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572000"/>
              <a:ext cx="5905500" cy="3429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73418" y="4685824"/>
              <a:ext cx="26609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A 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48077" y="4685824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2029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04751" y="4685824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1.2 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85589" y="4685824"/>
              <a:ext cx="3702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90,000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60531" y="4685824"/>
              <a:ext cx="34785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16.8%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914900"/>
              <a:ext cx="59055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673418" y="5028724"/>
              <a:ext cx="25808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B 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48077" y="5028724"/>
              <a:ext cx="2693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2030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04751" y="5028724"/>
              <a:ext cx="33663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5.5 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18263" y="5028724"/>
              <a:ext cx="43762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250,000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38088" y="5028724"/>
              <a:ext cx="37029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13.7%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5410200"/>
            <a:ext cx="5905500" cy="543104"/>
            <a:chOff x="533400" y="5410200"/>
            <a:chExt cx="5905500" cy="543104"/>
          </a:xfrm>
        </p:grpSpPr>
        <p:sp>
          <p:nvSpPr>
            <p:cNvPr id="58" name="Rectangle 58"/>
            <p:cNvSpPr/>
            <p:nvPr/>
          </p:nvSpPr>
          <p:spPr>
            <a:xfrm>
              <a:off x="533400" y="5410200"/>
              <a:ext cx="5905500" cy="533400"/>
            </a:xfrm>
            <a:prstGeom prst="roundRect">
              <a:avLst>
                <a:gd name="adj" fmla="val 10714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748665" y="5544502"/>
              <a:ext cx="221535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退出回报测算（VC 概率加权口径）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6760" y="5737860"/>
              <a:ext cx="321562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MOIC 13.4×</a:t>
              </a:r>
              <a:r>
                <a:rPr lang="zh-CN" sz="1000" b="1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 对应年化 IRR 约 68%（2031 退出）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7500" y="1562100"/>
            <a:ext cx="4991100" cy="4381500"/>
            <a:chOff x="6667500" y="1562100"/>
            <a:chExt cx="4991100" cy="4381500"/>
          </a:xfrm>
        </p:grpSpPr>
        <p:sp>
          <p:nvSpPr>
            <p:cNvPr id="62" name="Rectangle 62"/>
            <p:cNvSpPr/>
            <p:nvPr/>
          </p:nvSpPr>
          <p:spPr>
            <a:xfrm>
              <a:off x="6667500" y="1562100"/>
              <a:ext cx="4991100" cy="4381500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9900" y="2299988"/>
              <a:ext cx="4686300" cy="2905724"/>
            </a:xfrm>
            <a:prstGeom prst="rect">
              <a:avLst/>
            </a:prstGeom>
          </p:spPr>
        </p:pic>
      </p:grpSp>
      <p:grpSp>
        <p:nvGrpSpPr>
          <p:cNvPr id="68" name="Group 68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65" name="Line 65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66" name="TextBox 66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101384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估值锚点系于「退出倍数」，用里程碑分期对冲比在数字上拉锯更有意义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8765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目标 MOIC 每上升 1×，隐含投前下降约 10–15%；退出 PS 每上升 0.6×，投前上升约 12%——锚点其实系在五年后市场给多高倍数上。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428750"/>
            <a:ext cx="5334000" cy="4381500"/>
            <a:chOff x="533400" y="1428750"/>
            <a:chExt cx="5334000" cy="4381500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5334000" cy="4381500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268" y="1581150"/>
              <a:ext cx="5008264" cy="4076700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6652260" y="1470660"/>
            <a:ext cx="5089187" cy="4022616"/>
            <a:chOff x="6652260" y="1470660"/>
            <a:chExt cx="5089187" cy="4022616"/>
          </a:xfrm>
        </p:grpSpPr>
        <p:sp>
          <p:nvSpPr>
            <p:cNvPr id="12" name="TextBox 12"/>
            <p:cNvSpPr txBox="1"/>
            <p:nvPr/>
          </p:nvSpPr>
          <p:spPr>
            <a:xfrm>
              <a:off x="6652260" y="1470660"/>
              <a:ext cx="18594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估值对什么最敏感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0" y="1752600"/>
              <a:ext cx="4991100" cy="685800"/>
            </a:xfrm>
            <a:prstGeom prst="roundRect">
              <a:avLst>
                <a:gd name="adj" fmla="val 8333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Rectangle 14"/>
            <p:cNvSpPr/>
            <p:nvPr/>
          </p:nvSpPr>
          <p:spPr>
            <a:xfrm>
              <a:off x="6667500" y="1752600"/>
              <a:ext cx="47625" cy="6858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958965" y="1905952"/>
              <a:ext cx="402514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目标 MOIC</a:t>
              </a: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：每上升 1×，隐含投前下降约 10–15%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58965" y="2153602"/>
              <a:ext cx="36340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退出 PS 倍数</a:t>
              </a:r>
              <a:r>
                <a:rPr lang="zh-CN" sz="1400" dirty="0">
                  <a:solidFill>
                    <a:srgbClr val="1F2937"/>
                  </a:solidFill>
                  <a:latin typeface="Times New Roman"/>
                  <a:ea typeface="楷体"/>
                  <a:cs typeface="Times New Roman"/>
                </a:rPr>
                <a:t>：每上升 0.6×，投前上升约 12%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2260" y="2651760"/>
              <a:ext cx="13946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五大主要风险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4165" y="2972752"/>
              <a:ext cx="148117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① 技术产业化风险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5118" y="3190399"/>
              <a:ext cx="478175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实验室良品率 &gt;85% 未经大规模量产验证，放量后一致性存疑——本源风险。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4165" y="3506152"/>
              <a:ext cx="13016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② 客户导入风险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5118" y="3723799"/>
              <a:ext cx="465512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半导体零部件认证周期 12–24 个月，头部客户尚在沟通，订单兑现有时滞。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4165" y="4039552"/>
              <a:ext cx="13016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③ 融资接续风险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5118" y="4257199"/>
              <a:ext cx="508632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后续轮累计资金需求超 8 亿元，若市场遇冷或里程碑滞后，可能面临 down round。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4165" y="4572952"/>
              <a:ext cx="13016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④ 竞争替代风险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5118" y="4790599"/>
              <a:ext cx="352660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国产同行与日本厂商可能加速迭代，先发优势窗口有限。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4165" y="5106352"/>
              <a:ext cx="13016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Times New Roman"/>
                  <a:ea typeface="楷体"/>
                  <a:cs typeface="Times New Roman"/>
                </a:rPr>
                <a:t>⑤ 估值假设风险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5118" y="5323999"/>
              <a:ext cx="477053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无审计三表、无签约订单，折现率/倍数/稀释/概率均为判断值，需尽调替换。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0" y="5581650"/>
            <a:ext cx="4991100" cy="438150"/>
            <a:chOff x="6667500" y="5581650"/>
            <a:chExt cx="4991100" cy="438150"/>
          </a:xfrm>
        </p:grpSpPr>
        <p:sp>
          <p:nvSpPr>
            <p:cNvPr id="29" name="Rectangle 29"/>
            <p:cNvSpPr/>
            <p:nvPr/>
          </p:nvSpPr>
          <p:spPr>
            <a:xfrm>
              <a:off x="6667500" y="5581650"/>
              <a:ext cx="4991100" cy="4381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883718" y="5666899"/>
              <a:ext cx="374301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识别风险</a:t>
              </a:r>
              <a:r>
                <a:rPr lang="zh-CN" altLang="en-US" sz="11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是为了</a:t>
              </a:r>
              <a:r>
                <a:rPr lang="zh-CN" sz="11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把可控的风险管住、把不可控的风险定价。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84670" y="5846445"/>
              <a:ext cx="346248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缓释：里程碑分期 / 反稀释与优先清算 / 尽调实证替换。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33" name="Line 33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051C2C"/>
                </a:gs>
                <a:gs pos="100000">
                  <a:srgbClr val="005587"/>
                </a:gs>
              </a:gsLst>
              <a:lin ang="0" scaled="1"/>
            </a:gradFill>
            <a:ln>
              <a:noFill/>
            </a:ln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504825" y="252412"/>
            <a:ext cx="8957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51C2C"/>
                </a:solidFill>
                <a:latin typeface="Times New Roman"/>
                <a:ea typeface="楷体"/>
                <a:cs typeface="Times New Roman"/>
              </a:rPr>
              <a:t>以投前 1.5 亿为谈判锚点，用里程碑分期把资金与技术兑现绑定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685800"/>
            <a:ext cx="11125200" cy="438150"/>
            <a:chOff x="533400" y="685800"/>
            <a:chExt cx="11125200" cy="438150"/>
          </a:xfrm>
        </p:grpSpPr>
        <p:sp>
          <p:nvSpPr>
            <p:cNvPr id="6" name="Rectangle 6"/>
            <p:cNvSpPr/>
            <p:nvPr/>
          </p:nvSpPr>
          <p:spPr>
            <a:xfrm>
              <a:off x="533400" y="685800"/>
              <a:ext cx="11125200" cy="438150"/>
            </a:xfrm>
            <a:prstGeom prst="roundRect">
              <a:avLst>
                <a:gd name="adj" fmla="val 8696"/>
              </a:avLst>
            </a:prstGeom>
            <a:solidFill>
              <a:srgbClr val="051C2C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46760" y="832485"/>
              <a:ext cx="96244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真正聪明的投资不只是谈一个好价格，更是设计一个好结构——投资人买下的不应是一个赌注，而是一串「可以随时叫停的期权」。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428750"/>
            <a:ext cx="6477000" cy="2893219"/>
            <a:chOff x="533400" y="1428750"/>
            <a:chExt cx="6477000" cy="2893219"/>
          </a:xfrm>
        </p:grpSpPr>
        <p:sp>
          <p:nvSpPr>
            <p:cNvPr id="9" name="Rectangle 9"/>
            <p:cNvSpPr/>
            <p:nvPr/>
          </p:nvSpPr>
          <p:spPr>
            <a:xfrm>
              <a:off x="533400" y="1428750"/>
              <a:ext cx="647700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621" y="1562100"/>
              <a:ext cx="4844558" cy="25908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73418" y="4123849"/>
              <a:ext cx="43088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2027–2031 预计营收路径（管理层预测，退出年约 10 亿，先蛰伏后爆发）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8160" y="4499610"/>
            <a:ext cx="4779807" cy="1889016"/>
            <a:chOff x="518160" y="4499610"/>
            <a:chExt cx="4779807" cy="1889016"/>
          </a:xfrm>
        </p:grpSpPr>
        <p:sp>
          <p:nvSpPr>
            <p:cNvPr id="13" name="TextBox 13"/>
            <p:cNvSpPr txBox="1"/>
            <p:nvPr/>
          </p:nvSpPr>
          <p:spPr>
            <a:xfrm>
              <a:off x="518160" y="4499610"/>
              <a:ext cx="16270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三阶段成长路径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065" y="4839652"/>
              <a:ext cx="239328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第一阶段 · 近期（2026–2028）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1018" y="5076349"/>
              <a:ext cx="440986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打通共键合设备，Si₃N₄ 小批量供货、MCS 客户认证 → 坐实「做得出」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0065" y="5411152"/>
              <a:ext cx="239328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第二阶段 · 中期（2029–2030）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1018" y="5647849"/>
              <a:ext cx="47769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MCS 批量供货、加热器量产，产能扩至多条产线 → 坐实「做得起、供得上」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0065" y="5982652"/>
              <a:ext cx="204703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05587"/>
                  </a:solidFill>
                  <a:latin typeface="Times New Roman"/>
                  <a:ea typeface="楷体"/>
                  <a:cs typeface="Times New Roman"/>
                </a:rPr>
                <a:t>第三阶段 · 远期（2031+）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018" y="6219349"/>
              <a:ext cx="37189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四条产品线平台化放量，冲击科创板 IPO → 坐实「长得大」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185660" y="1470660"/>
            <a:ext cx="4697096" cy="4553902"/>
            <a:chOff x="7185660" y="1470660"/>
            <a:chExt cx="4697096" cy="4553902"/>
          </a:xfrm>
        </p:grpSpPr>
        <p:sp>
          <p:nvSpPr>
            <p:cNvPr id="21" name="TextBox 21"/>
            <p:cNvSpPr txBox="1"/>
            <p:nvPr/>
          </p:nvSpPr>
          <p:spPr>
            <a:xfrm>
              <a:off x="7185660" y="1470660"/>
              <a:ext cx="10772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三条投资建议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00900" y="1752600"/>
              <a:ext cx="4457700" cy="914400"/>
            </a:xfrm>
            <a:prstGeom prst="roundRect">
              <a:avLst>
                <a:gd name="adj" fmla="val 6250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7200900" y="1752600"/>
              <a:ext cx="47625" cy="91440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Freeform 24"/>
            <p:cNvSpPr/>
            <p:nvPr/>
          </p:nvSpPr>
          <p:spPr>
            <a:xfrm>
              <a:off x="7444978" y="1958578"/>
              <a:ext cx="216694" cy="232172"/>
            </a:xfrm>
            <a:custGeom>
              <a:avLst/>
              <a:gdLst/>
              <a:ahLst/>
              <a:cxnLst/>
              <a:rect l="l" t="t" r="r" b="b"/>
              <a:pathLst>
                <a:path w="216694" h="232172">
                  <a:moveTo>
                    <a:pt x="0" y="0"/>
                  </a:moveTo>
                  <a:lnTo>
                    <a:pt x="0" y="232172"/>
                  </a:lnTo>
                  <a:lnTo>
                    <a:pt x="30956" y="232172"/>
                  </a:lnTo>
                  <a:lnTo>
                    <a:pt x="30956" y="139303"/>
                  </a:lnTo>
                  <a:lnTo>
                    <a:pt x="92869" y="139303"/>
                  </a:lnTo>
                  <a:lnTo>
                    <a:pt x="123825" y="170259"/>
                  </a:lnTo>
                  <a:lnTo>
                    <a:pt x="216694" y="170259"/>
                  </a:lnTo>
                  <a:lnTo>
                    <a:pt x="216694" y="30956"/>
                  </a:lnTo>
                  <a:lnTo>
                    <a:pt x="123825" y="30956"/>
                  </a:lnTo>
                  <a:lnTo>
                    <a:pt x="928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778115" y="1925002"/>
              <a:ext cx="98745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里程碑分期出资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79068" y="2180749"/>
              <a:ext cx="410368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绑定 Si₃N₄ 供货、MCS 客户认证等硬指标，把资金与技术兑现挂钩。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79068" y="2409349"/>
              <a:ext cx="384720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分期结构让投资人随时可「叫停」，是对冲高不确定性的核心手段。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00900" y="2781300"/>
              <a:ext cx="4457700" cy="781050"/>
            </a:xfrm>
            <a:prstGeom prst="roundRect">
              <a:avLst>
                <a:gd name="adj" fmla="val 7317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7200900" y="2781300"/>
              <a:ext cx="47625" cy="78105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Freeform 30"/>
            <p:cNvSpPr/>
            <p:nvPr/>
          </p:nvSpPr>
          <p:spPr>
            <a:xfrm>
              <a:off x="7444978" y="295275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108347" y="247650"/>
                  </a:moveTo>
                  <a:lnTo>
                    <a:pt x="51853" y="207297"/>
                  </a:lnTo>
                  <a:cubicBezTo>
                    <a:pt x="19313" y="184053"/>
                    <a:pt x="0" y="146526"/>
                    <a:pt x="0" y="106537"/>
                  </a:cubicBez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106537"/>
                  </a:lnTo>
                  <a:cubicBezTo>
                    <a:pt x="216694" y="146526"/>
                    <a:pt x="197382" y="184053"/>
                    <a:pt x="164840" y="207297"/>
                  </a:cubicBezTo>
                  <a:lnTo>
                    <a:pt x="108347" y="247650"/>
                  </a:lnTo>
                  <a:close/>
                  <a:moveTo>
                    <a:pt x="173465" y="88335"/>
                  </a:moveTo>
                  <a:lnTo>
                    <a:pt x="151576" y="66446"/>
                  </a:lnTo>
                  <a:lnTo>
                    <a:pt x="92869" y="125153"/>
                  </a:lnTo>
                  <a:lnTo>
                    <a:pt x="65118" y="97402"/>
                  </a:lnTo>
                  <a:lnTo>
                    <a:pt x="43229" y="119292"/>
                  </a:lnTo>
                  <a:lnTo>
                    <a:pt x="92869" y="168931"/>
                  </a:lnTo>
                  <a:lnTo>
                    <a:pt x="173465" y="88335"/>
                  </a:ln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7778115" y="2934652"/>
              <a:ext cx="112851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协议条款下行保护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79068" y="3190398"/>
              <a:ext cx="37480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约定反稀释、优先清算、优先跟投与回购/对赌条款，守住下行与加注权利。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00900" y="3676650"/>
              <a:ext cx="4457700" cy="781050"/>
            </a:xfrm>
            <a:prstGeom prst="roundRect">
              <a:avLst>
                <a:gd name="adj" fmla="val 7317"/>
              </a:avLst>
            </a:prstGeom>
            <a:solidFill>
              <a:srgbClr val="F4F6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Rectangle 34"/>
            <p:cNvSpPr/>
            <p:nvPr/>
          </p:nvSpPr>
          <p:spPr>
            <a:xfrm>
              <a:off x="7200900" y="3676650"/>
              <a:ext cx="47625" cy="781050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3" name="Group 43"/>
            <p:cNvGrpSpPr/>
            <p:nvPr/>
          </p:nvGrpSpPr>
          <p:grpSpPr>
            <a:xfrm>
              <a:off x="7444978" y="3863578"/>
              <a:ext cx="216694" cy="216694"/>
              <a:chOff x="7444978" y="3863578"/>
              <a:chExt cx="216694" cy="21669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444978" y="3863578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7444978" y="3925491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7444978" y="3987403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0" y="0"/>
                    </a:moveTo>
                    <a:lnTo>
                      <a:pt x="30956" y="0"/>
                    </a:lnTo>
                    <a:lnTo>
                      <a:pt x="30956" y="30956"/>
                    </a:lnTo>
                    <a:lnTo>
                      <a:pt x="0" y="309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7444978" y="4049316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7506891" y="3863578"/>
                <a:ext cx="154781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30956">
                    <a:moveTo>
                      <a:pt x="154781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154781" y="30956"/>
                    </a:lnTo>
                    <a:lnTo>
                      <a:pt x="154781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7506891" y="3925491"/>
                <a:ext cx="154781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30956">
                    <a:moveTo>
                      <a:pt x="154781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154781" y="30956"/>
                    </a:lnTo>
                    <a:lnTo>
                      <a:pt x="154781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7506891" y="3987403"/>
                <a:ext cx="154781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30956">
                    <a:moveTo>
                      <a:pt x="0" y="0"/>
                    </a:moveTo>
                    <a:lnTo>
                      <a:pt x="154781" y="0"/>
                    </a:lnTo>
                    <a:lnTo>
                      <a:pt x="154781" y="30956"/>
                    </a:lnTo>
                    <a:lnTo>
                      <a:pt x="0" y="309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7506891" y="4049316"/>
                <a:ext cx="154781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30956">
                    <a:moveTo>
                      <a:pt x="154781" y="0"/>
                    </a:moveTo>
                    <a:lnTo>
                      <a:pt x="0" y="0"/>
                    </a:lnTo>
                    <a:lnTo>
                      <a:pt x="0" y="30956"/>
                    </a:lnTo>
                    <a:lnTo>
                      <a:pt x="154781" y="30956"/>
                    </a:lnTo>
                    <a:lnTo>
                      <a:pt x="154781" y="0"/>
                    </a:lnTo>
                    <a:close/>
                  </a:path>
                </a:pathLst>
              </a:custGeom>
              <a:solidFill>
                <a:srgbClr val="005587"/>
              </a:solidFill>
              <a:ln>
                <a:noFill/>
              </a:ln>
            </p:spPr>
            <p:txBody>
              <a:bodyPr/>
              <a:p/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7778115" y="3830002"/>
              <a:ext cx="1269578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051C2C"/>
                  </a:solidFill>
                  <a:latin typeface="Times New Roman"/>
                  <a:ea typeface="楷体"/>
                  <a:cs typeface="Times New Roman"/>
                </a:rPr>
                <a:t>交割前提与尽调清单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79068" y="4085749"/>
              <a:ext cx="39754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64748B"/>
                  </a:solidFill>
                  <a:latin typeface="Times New Roman"/>
                  <a:ea typeface="楷体"/>
                  <a:cs typeface="Times New Roman"/>
                </a:rPr>
                <a:t>要求审计三表、专利转让完成证明、客户送样验证材料作为交割前提。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200899" y="4610100"/>
              <a:ext cx="4505989" cy="1414462"/>
            </a:xfrm>
            <a:prstGeom prst="roundRect">
              <a:avLst>
                <a:gd name="adj" fmla="val 6667"/>
              </a:avLst>
            </a:prstGeom>
            <a:solidFill>
              <a:srgbClr val="005587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7492365" y="4801552"/>
              <a:ext cx="26161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回到最初的问题——为什么值这个价？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1412" y="5045214"/>
              <a:ext cx="37729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一支能把实验室成果推向产线的团队，一项能反复变现的底层工艺，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1412" y="5512178"/>
              <a:ext cx="33161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Times New Roman"/>
                  <a:ea typeface="楷体"/>
                  <a:cs typeface="Times New Roman"/>
                </a:rPr>
                <a:t>一条仍在被 AI 与新能源不断抬高的赛道天花板。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06891" y="5783759"/>
              <a:ext cx="369331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CDB"/>
                  </a:solidFill>
                  <a:latin typeface="Times New Roman"/>
                  <a:ea typeface="楷体"/>
                  <a:cs typeface="Times New Roman"/>
                </a:rPr>
                <a:t>今天的投前估值不是终点，而是这段成长故事的起点。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2922" y="6438900"/>
            <a:ext cx="11146155" cy="307181"/>
            <a:chOff x="522922" y="6438900"/>
            <a:chExt cx="11146155" cy="307181"/>
          </a:xfrm>
        </p:grpSpPr>
        <p:sp>
          <p:nvSpPr>
            <p:cNvPr id="52" name="Line 52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522922" y="657844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机密 · 仅供内部投资决策参考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Times New Roman"/>
                  <a:ea typeface="楷体"/>
                  <a:cs typeface="Times New Roman"/>
                </a:rPr>
                <a:t>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楷体"/>
        <a:cs typeface="Times New Roman"/>
        <a:font script="Jpan" typeface="ＭＳ Ｐゴシック"/>
        <a:font script="Hang" typeface="맑은 고딕"/>
        <a:font script="Hans" typeface="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楷体"/>
        <a:cs typeface="Times New Roman"/>
        <a:font script="Jpan" typeface="ＭＳ Ｐゴシック"/>
        <a:font script="Hang" typeface="맑은 고딕"/>
        <a:font script="Hans" typeface="楷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5046</Words>
  <Application>Microsoft Macintosh PowerPoint</Application>
  <PresentationFormat>宽屏</PresentationFormat>
  <Paragraphs>502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楷体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 z</cp:lastModifiedBy>
  <cp:revision>42</cp:revision>
  <dcterms:created xsi:type="dcterms:W3CDTF">2026-08-31T07:24:12Z</dcterms:created>
  <dcterms:modified xsi:type="dcterms:W3CDTF">2026-09-01T14:49:07Z</dcterms:modified>
  <cp:category/>
  <cp:contentStatus/>
  <dc:language/>
</cp:coreProperties>
</file>