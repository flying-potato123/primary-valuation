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岁锦科技（AgeTech）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C8DCF0"/>
                </a:solidFill>
                <a:latin typeface="微软雅黑"/>
              </a:defRPr>
            </a:pPr>
            <a:r>
              <a:t>天使轮估值报告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微软雅黑"/>
              </a:defRPr>
            </a:pPr>
            <a:r>
              <a:t>AI × 智慧养老设备，用 AI 守护每一个暮年时光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9696"/>
                </a:solidFill>
                <a:latin typeface="微软雅黑"/>
              </a:defRPr>
            </a:pPr>
            <a:r>
              <a:t>估值日期: 2026年6月10日  |  融资阶段: 天使轮  |  机密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执行摘要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微软雅黑"/>
              </a:defRPr>
            </a:pPr>
            <a:r>
              <a:t>▎投后估值建议: 1.00-1.85亿元，核心估值点 1.50 亿元</a:t>
            </a:r>
          </a:p>
          <a:p>
            <a:pPr>
              <a:spcAft>
                <a:spcPts val="400"/>
              </a:spcAft>
              <a:defRPr sz="1500">
                <a:latin typeface="微软雅黑"/>
              </a:defRPr>
            </a:pPr>
            <a:r>
              <a:t>▎本轮融资: 1,500 万元  |  出让 10%  |  投前 1.35 亿元</a:t>
            </a:r>
          </a:p>
          <a:p>
            <a:pPr>
              <a:spcAft>
                <a:spcPts val="400"/>
              </a:spcAft>
              <a:defRPr sz="1500">
                <a:latin typeface="微软雅黑"/>
              </a:defRPr>
            </a:pPr>
            <a:r>
              <a:t>▎核心方法: VC Method（风险资本法）+ 融资条款反推 + 可比融资 + PS倍数参考</a:t>
            </a:r>
          </a:p>
          <a:p>
            <a:pPr>
              <a:spcAft>
                <a:spcPts val="400"/>
              </a:spcAft>
              <a:defRPr sz="1500">
                <a:latin typeface="微软雅黑"/>
              </a:defRPr>
            </a:pPr>
            <a:r>
              <a:t>▎基准情景 MOIC: 10.8x（55%概率） | 概率加权 MOIC: 11.8x</a:t>
            </a:r>
          </a:p>
          <a:p>
            <a:pPr>
              <a:spcAft>
                <a:spcPts val="400"/>
              </a:spcAft>
              <a:defRPr sz="1500">
                <a:latin typeface="微软雅黑"/>
              </a:defRPr>
            </a:pPr>
            <a:r>
              <a:t>▎多重方法在 1.35-1.80 亿元区间收敛，1.50 亿元有 VC Method + 条款反推双重支撑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4114800"/>
          <a:ext cx="11612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估值方法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低（亿）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中（亿）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高（亿）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融资条款反推法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基于1,500万/10%直接反推…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VC Method（概率加权）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三种情景期望值法…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可比天使轮融资分析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5个同类天使/Pre-A轮对标…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PS倍数法（2027E）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2.25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1.5x-2.5x 2027E PS…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综合建议区间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多重方法交叉验证收敛…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公司概览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公司: 岁锦科技（AgeTech）  |  成立: 2025年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赛道: AI × 智慧养老设备  |  融资: 天使轮 1,500万元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核心团队: 5人管理层，阿里/腾讯/迈瑞背景，25人团队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产品定位: AI大模型 + 多模态感知 + 养老场景的软硬一体方案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商业模式: 硬件销售 + SaaS订阅 + 增值服务三级变现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竞争壁垒: AI算法自研 + 适老化设计 + 数据飞轮效应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核心优势: 精准卡位AI养老'专业纯玩家'真空地带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平台整合型智慧养老模式CAGR 41%，增速最快子赛道</a:t>
            </a:r>
          </a:p>
        </p:txBody>
      </p:sp>
      <p:pic>
        <p:nvPicPr>
          <p:cNvPr id="5" name="Picture 4" descr="chart05_fund_usag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产品矩阵 — 软硬一体全场景覆盖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2070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840480"/>
                <a:gridCol w="228600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形态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商业模式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岁锦守护环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AI智能手环/腕表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多模态生命体征监测+大模型异常预警，适用于居家独居老人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硬件销售+数据订阅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500-2,000元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岁锦卫士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毫米波雷达跌倒探测仪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非接触式跌倒识别，误报率&lt;3%，居家/机构通用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设备销售+运维SaaS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3,000-8,000元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岁锦陪伴屏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AI陪伴交互终端(10寸)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大模型情感对话+家庭连接，解决老年情感陪护需求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硬件+月订阅服务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1,500-3,000元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岁锦云平台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B2B SaaS管理系统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数据汇聚、AI风险分级、家属端App，服务养老机构与社区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年费订阅+API授权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2-5万/年/机构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四条产品线覆盖 个人端 · 家庭端 · 机构端 三大场景，形成从数据采集到数据分析到数据变现的完整闭环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商业模式 — 双轨收入驱动高估值乘数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三级变现模型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① 硬件销售: 一次性收入（手环/探测仪/陪伴屏）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② SaaS订阅: ARR经常性收入（机构年费/家庭月费）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③ 增值服务: 高毛利收入（API授权/数据分析）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目标客群: B端（养老机构/医院）→ C端（老人/家属）→ G端（政府采购）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三大核心优势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• NWC仅7% — 订阅预收款改善现金流，优于纯硬件公司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• 机构SaaS毛利率70%+ — 边际成本低，规模效应显著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• 数据锁定效应 — 设备与云平台深度绑定，迁移成本高</a:t>
            </a:r>
          </a:p>
        </p:txBody>
      </p:sp>
      <p:pic>
        <p:nvPicPr>
          <p:cNvPr id="5" name="Picture 4" descr="chart10_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389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行业市场 — 万亿赛道·高速增长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市场规模（万亿元）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同比增速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历史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6.3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+14.5%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历史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历史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+13.9%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预测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预测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+15.8%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预测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预测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hart06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8580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3亿+老年人口（占总人口21%）— 全球最大银发市场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'9073'养老模式：90%居家养老 — AI设备渗透主战场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AI养老设备制造 CAGR 25%，平台整合型 CAGR 41%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政策：智慧养老列入'新质生产力'，上升为国家战略基础设施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行业趋势：2023年5.5万亿 → 2030E 14.5万亿，CAGR 14.4%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竞争格局 — 三足鼎立·专业纯玩家空白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7772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代表企业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短板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互联网巨头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百度小度、阿里、腾讯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流量入口、数据资源、品牌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AI养老算法深度不足，适老化设计薄弱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传统医疗设备商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迈瑞医疗、东软集团、乐普医疗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医疗渠道、认证资质、品牌公信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AI化转型滞后，产品迭代慢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垂直初创企业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迈德斯特、卡本医疗、小橙长护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专注度高、产品深度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品牌弱、渠道有限、融资能力受限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★ 岁锦科技定位: AI算法自研 + 适老化硬件 + SaaS订阅 三合一，精准卡位'专业纯玩家'竞争真空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可比上市公司PS倍数参考（作为退出上限）: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鱼跃医疗 PS 3.5x | 乐普医疗 PS 4.2x | 科大讯飞 PS 6.5x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PS中位数 3.5x → 天使轮以1.5-2.5x 2027E PS（流动性折价）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竞争护城河: 数据飞轮 + 软硬一体 + 先发渠道 + 合规认证</a:t>
            </a:r>
          </a:p>
        </p:txBody>
      </p:sp>
      <p:pic>
        <p:nvPicPr>
          <p:cNvPr id="7" name="Picture 6" descr="chart07_comparable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840480"/>
            <a:ext cx="502920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财务预测 — 五年CAGR 216%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营收（万元）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YoY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净利率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产品研发期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+350%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商业验证期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+211%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快速成长期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80,000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+186%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~18%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规模扩张期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+150%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成熟盈利期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hart01_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路径: 2026 MVP验证 → 2028 盈亏平衡 → 2030 20亿营收/4.58亿净利润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0392B"/>
                </a:solidFill>
                <a:latin typeface="微软雅黑"/>
              </a:defRPr>
            </a:pPr>
            <a:r>
              <a:t>⚠ 天使轮无历史数据，BP预测高度不确定。实际结果可能大幅偏离。关键风险: 硬件量产、B2B回款、SaaS续费、合规审批</a:t>
            </a:r>
          </a:p>
        </p:txBody>
      </p:sp>
      <p:pic>
        <p:nvPicPr>
          <p:cNvPr id="8" name="Picture 7" descr="chart11_dcf_cash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594360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估值方法 — 四重交叉验证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latin typeface="微软雅黑"/>
              </a:defRPr>
            </a:pPr>
            <a:r>
              <a:t>• 方法① 融资条款反推 → 投后 1.50亿（交易双方直接定价锚点）</a:t>
            </a:r>
          </a:p>
          <a:p>
            <a:pPr>
              <a:spcAft>
                <a:spcPts val="400"/>
              </a:spcAft>
              <a:defRPr sz="1400">
                <a:latin typeface="微软雅黑"/>
              </a:defRPr>
            </a:pPr>
            <a:r>
              <a:t>• 方法② VC Method（核心方法）→ 概率加权投后 ~1.50亿（三种情景加权）</a:t>
            </a:r>
          </a:p>
          <a:p>
            <a:pPr>
              <a:spcAft>
                <a:spcPts val="400"/>
              </a:spcAft>
              <a:defRPr sz="1400">
                <a:latin typeface="微软雅黑"/>
              </a:defRPr>
            </a:pPr>
            <a:r>
              <a:t>• 方法③ 可比天使轮融资 → 中位数 1.80亿（5个同类案例对标）</a:t>
            </a:r>
          </a:p>
          <a:p>
            <a:pPr>
              <a:spcAft>
                <a:spcPts val="400"/>
              </a:spcAft>
              <a:defRPr sz="1400">
                <a:latin typeface="微软雅黑"/>
              </a:defRPr>
            </a:pPr>
            <a:r>
              <a:t>• 方法④ 可比PS倍数法 → 1.35-2.25亿（2027E PS 1.5x-2.5x）</a:t>
            </a:r>
          </a:p>
          <a:p>
            <a:pPr>
              <a:spcAft>
                <a:spcPts val="400"/>
              </a:spcAft>
              <a:defRPr sz="1400">
                <a:latin typeface="微软雅黑"/>
              </a:defRPr>
            </a:pPr>
          </a:p>
          <a:p>
            <a:pPr>
              <a:spcAft>
                <a:spcPts val="400"/>
              </a:spcAft>
              <a:defRPr sz="1400">
                <a:latin typeface="微软雅黑"/>
              </a:defRPr>
            </a:pPr>
            <a:r>
              <a:t>• 综合建议: 投后估值区间 1.00-1.85 亿元，核心估值点 1.50 亿元</a:t>
            </a:r>
          </a:p>
        </p:txBody>
      </p:sp>
      <p:pic>
        <p:nvPicPr>
          <p:cNvPr id="5" name="Picture 4" descr="chart03_valuation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3200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389120"/>
          <a:ext cx="11612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低（亿）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中（亿）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高（亿）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融资条款反推法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VC Method（概率加权）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可比天使轮融资分析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PS倍数法（2027E）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2.25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综合建议区间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VC Method — 退出回报分析（核心方法）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退出营收(亿)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退出估值(亿)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保留股权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乐观情景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25.7x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基准情景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1.8x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36.0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10.8x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悲观情景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hart02_vc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5943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概率加权 MOIC = 25.7x×20% + 10.8x×55% + 2.8x×25% = 11.8x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退出假设: 2030年IPO/战略并购，天使轮持有期5年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即使在悲观情景下（营收12亿 PS 1.0x），MOIC=2.8x 仍为正收益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估值对营收达标率最为敏感 → 尽调重点: BP营收假设的客观证据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概率加权估值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乐观情景 (20%): 产品大规模放量，2030年营收25亿，MOIC 25.7x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  → 投后估值隐含约 2.5亿 | 需要: 进入省级采购目录 + IPO高估值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基准情景 (55%): 按计划推进，2030年营收20亿，MOIC 10.8x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  → 投后估值约 1.50亿 | 需要: 核心假设基本兑现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悲观情景 (25%): 推广受阻，2030年营收12亿，MOIC 2.8x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  → 投后估值约 0.80亿 | 情景: 渠道受阻、竞争加剧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概率加权 MOIC = 11.8x  |  期望估值 ≈ 1.50亿</a:t>
            </a:r>
          </a:p>
        </p:txBody>
      </p:sp>
      <p:pic>
        <p:nvPicPr>
          <p:cNvPr id="5" name="Picture 4" descr="chart08_scenario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754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可比融资 &amp; 可比上市公司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可比天使/Pre-A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金额(万)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估值(亿)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迈德斯特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卡本医疗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小橙长护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福寿康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智康科技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hart04_comparable_fin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4008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latin typeface="微软雅黑"/>
              </a:defRPr>
            </a:pPr>
            <a:r>
              <a:t>可比案例融资中位数 2,000万，投后估值中位数 1.80亿 | 岁锦1,500万/1.50亿处于合理区间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4E79"/>
                </a:solidFill>
                <a:latin typeface="微软雅黑"/>
              </a:defRPr>
            </a:pPr>
            <a:r>
              <a:t>上市公司PS中位数3.5x → 以2027E营收0.9亿，给予1.5x-2.5x PS（流动性折价）→ 估值 1.35-2.25亿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MOIC 敏感性分析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12_moi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最敏感变量排序: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  ① 2030年实际营收（BP达标率）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     → 营收从20亿降至12亿(-40%)，MOIC从10.8x降至5.9x(-45%)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  ② 退出PS倍数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     → PS从1.8x降至1.0x，MOIC从10.8x降至5.5x(-49%)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  ③ 后续融资稀释程度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     → 稀释从55%升至65%，MOIC从10.8x降至8.4x(-22%)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最悲观组合（营收5亿/PS 0.8x/稀释70%）→ MOIC仍为4.0x</a:t>
            </a:r>
          </a:p>
          <a:p>
            <a:pPr>
              <a:spcAft>
                <a:spcPts val="400"/>
              </a:spcAft>
              <a:defRPr sz="1000">
                <a:latin typeface="微软雅黑"/>
              </a:defRPr>
            </a:pPr>
            <a:r>
              <a:t>下行保护较好：本金大概率不会完全损失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后续稀释路径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轮次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创始人持股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天使轮持股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新投资人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估值(亿)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累计稀释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天使轮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A轮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4-6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B轮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12-18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36%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C轮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46.1%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48.8%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25-40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36-70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57%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hart09_dilu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4572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天使轮投资人 10% → 经历A/B/C/IPO四轮稀释 → IPO时约 4.3%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以1.50亿投后估值投资150万（1%），基准情景: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退出估值36亿 × 保留股权4.3% ≈ 退出价值1.55亿</a:t>
            </a:r>
          </a:p>
          <a:p>
            <a:pPr>
              <a:spcAft>
                <a:spcPts val="400"/>
              </a:spcAft>
              <a:defRPr sz="1200">
                <a:latin typeface="微软雅黑"/>
              </a:defRPr>
            </a:pPr>
            <a:r>
              <a:t>• MOIC ≈ 10.3x（处于天使轮行业标准区间内）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风险提示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高风险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收入预测未经历史验证 — 5年CAGR 216%高度不确定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硬件量产与供应链 — BOM成本、芯片供应、良率爬坡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中高风险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医疗合规 — 注册证审批6-18个月，影响上市节奏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B2B回款 — 养老机构采购流程长，回款6-12个月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中等风险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SaaS续费留存 — NRR尚未验证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后续融资稀释 — 天使10% → IPO ~4-5%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竞争格局演变 — 巨头可能在2-3年内大举进入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• 关键人依赖 — 25人团队，核心骨干高度集中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下行保护: 悲观情景MOIC仍为2.8x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核心不确定性: BP营收假设的客观验证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关键尽调建议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① BP营收假设审验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核验试点机构LOI/意向函，评估5→30→300家扩张可行性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② 硬件BOM与供应链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核查BOM清单，走访关键供应商（传感器/芯片）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③ 医疗器械注册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确认分类和路径，评估审批风险和时间表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④ 团队能力评估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逐一访谈核心团队，识别关键人风险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⑤ 客户与渠道验证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访谈已签约机构，了解采购流程和预算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⑥ 知识产权与专利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核查专利情况，FTO检索，评估自主知识产权比例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⑦ 竞争差异化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实地对比竞品，评估产品体验和定价竞争力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⑧ 财务法务尽调</a:t>
            </a:r>
          </a:p>
          <a:p>
            <a:pPr>
              <a:spcAft>
                <a:spcPts val="400"/>
              </a:spcAft>
              <a:defRPr sz="1100">
                <a:latin typeface="微软雅黑"/>
              </a:defRPr>
            </a:pPr>
            <a:r>
              <a:t>   审查股权结构、融资条款、期权池、关联交易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latin typeface="微软雅黑"/>
              </a:defRPr>
            </a:pPr>
            <a:r>
              <a:t>这些尽调问题的结果可能对估值结论产生实质性影响。建议在完成关键尽调后重新审视估值区间。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免责声明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本估值报告仅供内部投资决策参考，不构成投资建议、要约或承诺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财务预测数据来源于公司商业计划书，分析师未进行独立审计或验证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天使轮财务预测具有高度不确定性，实际结果可能与预测存在显著偏差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可比公司数据和市场数据来源于公开渠道，准确性和完整性不作保证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估值结果基于一系列假设和判断，不同方法和参数可能得出不同结论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分析师与被估值公司之间不存在利益冲突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• 估值基准日: 2026年6月10日，仅在该基准日有效</a:t>
            </a: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</a:p>
          <a:p>
            <a:pPr>
              <a:spcAft>
                <a:spcPts val="400"/>
              </a:spcAft>
              <a:defRPr sz="1300">
                <a:latin typeface="微软雅黑"/>
              </a:defRPr>
            </a:pPr>
            <a:r>
              <a:t>投资人应基于自身独立判断和尽职调查结果做出投资决策。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69696"/>
                </a:solidFill>
                <a:latin typeface="微软雅黑"/>
              </a:defRPr>
            </a:pPr>
            <a:r>
              <a:t>岁锦科技 天使轮估值报告  |  机密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